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71" autoAdjust="0"/>
    <p:restoredTop sz="94660" autoAdjust="0"/>
  </p:normalViewPr>
  <p:slideViewPr>
    <p:cSldViewPr snapToGrid="0">
      <p:cViewPr>
        <p:scale>
          <a:sx n="125" d="100"/>
          <a:sy n="125" d="100"/>
        </p:scale>
        <p:origin x="60" y="-94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25-09-2026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25-09-2026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25-09-2026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25-09-2026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25-09-2026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25-09-2026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25-09-2026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25-09-2026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25-09-2026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25-09-2026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25-09-2026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25-09-2026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25-09-2026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CoolMoon003/Streaming_Live_Rag"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svg"/><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svg"/><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youtube.com/watch?v=Twsv_37PmaQ"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CoolMoon003/Streaming_Live_Rag"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39" y="3310128"/>
            <a:ext cx="7113314"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- 04</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Apex</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Vellore Institute Of Technology (Vellore)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a:t>
            </a:r>
            <a:r>
              <a:rPr lang="en-US" sz="1600" dirty="0" err="1">
                <a:solidFill>
                  <a:srgbClr val="63637E"/>
                </a:solidFill>
                <a:latin typeface="Calibri" pitchFamily="34" charset="0"/>
                <a:ea typeface="Calibri" pitchFamily="34" charset="-122"/>
                <a:cs typeface="Calibri" pitchFamily="34" charset="-120"/>
              </a:rPr>
              <a:t>Naveenbabu</a:t>
            </a:r>
            <a:r>
              <a:rPr lang="en-US" sz="1600" dirty="0">
                <a:solidFill>
                  <a:srgbClr val="63637E"/>
                </a:solidFill>
                <a:latin typeface="Calibri" pitchFamily="34" charset="0"/>
                <a:ea typeface="Calibri" pitchFamily="34" charset="-122"/>
                <a:cs typeface="Calibri" pitchFamily="34" charset="-120"/>
              </a:rPr>
              <a:t> H &amp; naveenbabu.h2023@vitstudent.ac.in</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a:t>
            </a:r>
            <a:r>
              <a:rPr lang="en-US" sz="1600" dirty="0" err="1">
                <a:solidFill>
                  <a:srgbClr val="63637E"/>
                </a:solidFill>
                <a:latin typeface="Calibri" pitchFamily="34" charset="0"/>
                <a:ea typeface="Calibri" pitchFamily="34" charset="-122"/>
                <a:cs typeface="Calibri" pitchFamily="34" charset="-120"/>
              </a:rPr>
              <a:t>Aishwaraya</a:t>
            </a:r>
            <a:r>
              <a:rPr lang="en-US" sz="1600" dirty="0">
                <a:solidFill>
                  <a:srgbClr val="63637E"/>
                </a:solidFill>
                <a:latin typeface="Calibri" pitchFamily="34" charset="0"/>
                <a:ea typeface="Calibri" pitchFamily="34" charset="-122"/>
                <a:cs typeface="Calibri" pitchFamily="34" charset="-120"/>
              </a:rPr>
              <a:t> A &amp; aishwaraya.a2023@vitstudent.ac.in</a:t>
            </a:r>
          </a:p>
          <a:p>
            <a:pPr>
              <a:spcAft>
                <a:spcPts val="500"/>
              </a:spcAft>
              <a:buSzPct val="100000"/>
            </a:pP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a:t>
            </a:r>
            <a:r>
              <a:rPr lang="en-US" sz="1600">
                <a:solidFill>
                  <a:srgbClr val="63637E"/>
                </a:solidFill>
                <a:latin typeface="Calibri" pitchFamily="34" charset="0"/>
                <a:ea typeface="Calibri" pitchFamily="34" charset="-122"/>
                <a:cs typeface="Calibri" pitchFamily="34" charset="-120"/>
              </a:rPr>
              <a:t>- </a:t>
            </a:r>
            <a:r>
              <a:rPr lang="en-US" sz="1600">
                <a:solidFill>
                  <a:srgbClr val="63637E"/>
                </a:solidFill>
                <a:latin typeface="Calibri" pitchFamily="34" charset="0"/>
                <a:ea typeface="Calibri" pitchFamily="34" charset="-122"/>
                <a:cs typeface="Calibri" pitchFamily="34" charset="-120"/>
                <a:hlinkClick r:id="rId3"/>
              </a:rPr>
              <a:t>GITHUB_REPO</a:t>
            </a: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4"/>
          <a:stretch>
            <a:fillRect/>
          </a:stretch>
        </p:blipFill>
        <p:spPr>
          <a:xfrm>
            <a:off x="7654247" y="1051560"/>
            <a:ext cx="4417888" cy="43834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38200" y="365125"/>
            <a:ext cx="10515600" cy="1720529"/>
          </a:xfrm>
        </p:spPr>
        <p:txBody>
          <a:bodyPr>
            <a:normAutofit/>
          </a:bodyPr>
          <a:lstStyle/>
          <a:p>
            <a:r>
              <a:rPr lang="en-IN" b="1" dirty="0">
                <a:solidFill>
                  <a:srgbClr val="704EA6"/>
                </a:solidFill>
                <a:latin typeface="+mn-lt"/>
                <a:cs typeface="Arial" pitchFamily="34" charset="-120"/>
              </a:rPr>
              <a:t>Theme</a:t>
            </a:r>
            <a:r>
              <a:rPr lang="en-US" dirty="0">
                <a:solidFill>
                  <a:srgbClr val="030303"/>
                </a:solidFill>
                <a:latin typeface="DM Sans SemiBold" pitchFamily="34" charset="0"/>
                <a:ea typeface="DM Sans SemiBold" pitchFamily="34" charset="-122"/>
                <a:cs typeface="DM Sans SemiBold" pitchFamily="34" charset="-120"/>
              </a:rPr>
              <a:t> </a:t>
            </a:r>
            <a:r>
              <a:rPr lang="en-US" b="1" dirty="0">
                <a:solidFill>
                  <a:srgbClr val="704EA6"/>
                </a:solidFill>
                <a:latin typeface="+mn-lt"/>
                <a:cs typeface="Arial" pitchFamily="34" charset="-120"/>
              </a:rPr>
              <a:t>04 — Streaming Live RAG</a:t>
            </a:r>
            <a:br>
              <a:rPr lang="en-US" dirty="0"/>
            </a:br>
            <a:endParaRPr lang="en-IN" b="1" dirty="0">
              <a:solidFill>
                <a:srgbClr val="704EA6"/>
              </a:solidFill>
              <a:latin typeface="+mn-lt"/>
              <a:cs typeface="Arial" pitchFamily="34" charset="-120"/>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397285"/>
            <a:ext cx="10515600" cy="5095590"/>
          </a:xfrm>
        </p:spPr>
        <p:txBody>
          <a:bodyPr>
            <a:normAutofit fontScale="55000" lnSpcReduction="20000"/>
          </a:bodyPr>
          <a:lstStyle/>
          <a:p>
            <a:pPr marL="0" indent="0">
              <a:lnSpc>
                <a:spcPct val="133000"/>
              </a:lnSpc>
              <a:spcAft>
                <a:spcPts val="1050"/>
              </a:spcAft>
              <a:buNone/>
            </a:pPr>
            <a:r>
              <a:rPr lang="en-US" sz="3200" b="1" dirty="0">
                <a:solidFill>
                  <a:srgbClr val="030303"/>
                </a:solidFill>
                <a:latin typeface="DM Sans SemiBold" pitchFamily="34" charset="0"/>
                <a:ea typeface="DM Sans SemiBold" pitchFamily="34" charset="-122"/>
                <a:cs typeface="DM Sans SemiBold" pitchFamily="34" charset="-120"/>
              </a:rPr>
              <a:t>Problem</a:t>
            </a:r>
            <a:endParaRPr lang="en-US" sz="4200" b="1" dirty="0">
              <a:solidFill>
                <a:srgbClr val="030303"/>
              </a:solidFill>
              <a:latin typeface="DM Sans SemiBold" pitchFamily="34" charset="0"/>
              <a:ea typeface="DM Sans SemiBold" pitchFamily="34" charset="-122"/>
              <a:cs typeface="DM Sans SemiBold" pitchFamily="34" charset="-120"/>
            </a:endParaRPr>
          </a:p>
          <a:p>
            <a:pPr marL="0" indent="0">
              <a:lnSpc>
                <a:spcPct val="133000"/>
              </a:lnSpc>
              <a:spcAft>
                <a:spcPts val="1050"/>
              </a:spcAft>
              <a:buNone/>
            </a:pPr>
            <a:r>
              <a:rPr lang="en-US" dirty="0">
                <a:solidFill>
                  <a:srgbClr val="464646"/>
                </a:solidFill>
                <a:latin typeface="Inter Medium" pitchFamily="34" charset="0"/>
                <a:ea typeface="Inter Medium" pitchFamily="34" charset="-122"/>
                <a:cs typeface="Inter Medium" pitchFamily="34" charset="-120"/>
              </a:rPr>
              <a:t>Conventional RAG waits for the user's complete query before retrieval </a:t>
            </a:r>
            <a:r>
              <a:rPr lang="en-US" dirty="0" err="1">
                <a:solidFill>
                  <a:srgbClr val="464646"/>
                </a:solidFill>
                <a:latin typeface="Inter Medium" pitchFamily="34" charset="0"/>
                <a:ea typeface="Inter Medium" pitchFamily="34" charset="-122"/>
                <a:cs typeface="Inter Medium" pitchFamily="34" charset="-120"/>
              </a:rPr>
              <a:t>begins.In</a:t>
            </a:r>
            <a:r>
              <a:rPr lang="en-US" dirty="0">
                <a:solidFill>
                  <a:srgbClr val="464646"/>
                </a:solidFill>
                <a:latin typeface="Inter Medium" pitchFamily="34" charset="0"/>
                <a:ea typeface="Inter Medium" pitchFamily="34" charset="-122"/>
                <a:cs typeface="Inter Medium" pitchFamily="34" charset="-120"/>
              </a:rPr>
              <a:t> live speech/conference scenarios:</a:t>
            </a:r>
            <a:endParaRPr lang="en-US" dirty="0"/>
          </a:p>
          <a:p>
            <a:pPr marL="650240" lvl="1" indent="-193040">
              <a:lnSpc>
                <a:spcPct val="133000"/>
              </a:lnSpc>
              <a:buSzPct val="100000"/>
            </a:pPr>
            <a:r>
              <a:rPr lang="en-US" dirty="0">
                <a:solidFill>
                  <a:srgbClr val="464646"/>
                </a:solidFill>
                <a:latin typeface="Inter Medium" pitchFamily="34" charset="0"/>
                <a:ea typeface="Inter Medium" pitchFamily="34" charset="-122"/>
                <a:cs typeface="Inter Medium" pitchFamily="34" charset="-120"/>
              </a:rPr>
              <a:t>Retrieval starts only after the speaker finishes.</a:t>
            </a:r>
            <a:endParaRPr lang="en-US" dirty="0"/>
          </a:p>
          <a:p>
            <a:pPr marL="650240" lvl="1" indent="-193040">
              <a:lnSpc>
                <a:spcPct val="133000"/>
              </a:lnSpc>
              <a:buSzPct val="100000"/>
            </a:pPr>
            <a:r>
              <a:rPr lang="en-US" dirty="0">
                <a:solidFill>
                  <a:srgbClr val="464646"/>
                </a:solidFill>
                <a:latin typeface="Inter Medium" pitchFamily="34" charset="0"/>
                <a:ea typeface="Inter Medium" pitchFamily="34" charset="-122"/>
                <a:cs typeface="Inter Medium" pitchFamily="34" charset="-120"/>
              </a:rPr>
              <a:t>Every transcript fragment cannot be treated as a new query.</a:t>
            </a:r>
            <a:endParaRPr lang="en-US" dirty="0"/>
          </a:p>
          <a:p>
            <a:pPr marL="650240" lvl="1" indent="-193040">
              <a:lnSpc>
                <a:spcPct val="133000"/>
              </a:lnSpc>
              <a:buSzPct val="100000"/>
            </a:pPr>
            <a:r>
              <a:rPr lang="en-US" dirty="0">
                <a:solidFill>
                  <a:srgbClr val="464646"/>
                </a:solidFill>
                <a:latin typeface="Inter Medium" pitchFamily="34" charset="0"/>
                <a:ea typeface="Inter Medium" pitchFamily="34" charset="-122"/>
                <a:cs typeface="Inter Medium" pitchFamily="34" charset="-120"/>
              </a:rPr>
              <a:t>Repeated/refined questions can cause redundant retrieval.</a:t>
            </a:r>
            <a:endParaRPr lang="en-US" dirty="0"/>
          </a:p>
          <a:p>
            <a:pPr marL="650240" lvl="1" indent="-193040">
              <a:lnSpc>
                <a:spcPct val="133000"/>
              </a:lnSpc>
              <a:buSzPct val="100000"/>
            </a:pPr>
            <a:r>
              <a:rPr lang="en-US" dirty="0">
                <a:solidFill>
                  <a:srgbClr val="464646"/>
                </a:solidFill>
                <a:latin typeface="Inter Medium" pitchFamily="34" charset="0"/>
                <a:ea typeface="Inter Medium" pitchFamily="34" charset="-122"/>
                <a:cs typeface="Inter Medium" pitchFamily="34" charset="-120"/>
              </a:rPr>
              <a:t>Multi-part questions can create evidence imbalance.</a:t>
            </a:r>
            <a:endParaRPr lang="en-US" dirty="0"/>
          </a:p>
          <a:p>
            <a:pPr marL="650240" lvl="1" indent="-193040">
              <a:lnSpc>
                <a:spcPct val="133000"/>
              </a:lnSpc>
              <a:buSzPct val="100000"/>
            </a:pPr>
            <a:r>
              <a:rPr lang="en-US" dirty="0">
                <a:solidFill>
                  <a:srgbClr val="464646"/>
                </a:solidFill>
                <a:latin typeface="Inter Medium" pitchFamily="34" charset="0"/>
                <a:ea typeface="Inter Medium" pitchFamily="34" charset="-122"/>
                <a:cs typeface="Inter Medium" pitchFamily="34" charset="-120"/>
              </a:rPr>
              <a:t>Streaming queries can produce stale asynchronous results.</a:t>
            </a:r>
            <a:endParaRPr lang="en-US" dirty="0"/>
          </a:p>
          <a:p>
            <a:pPr marL="650240" lvl="1" indent="-193040">
              <a:lnSpc>
                <a:spcPct val="133000"/>
              </a:lnSpc>
              <a:buSzPct val="100000"/>
            </a:pPr>
            <a:r>
              <a:rPr lang="en-US" dirty="0">
                <a:solidFill>
                  <a:srgbClr val="464646"/>
                </a:solidFill>
                <a:latin typeface="Inter Medium" pitchFamily="34" charset="0"/>
                <a:ea typeface="Inter Medium" pitchFamily="34" charset="-122"/>
                <a:cs typeface="Inter Medium" pitchFamily="34" charset="-120"/>
              </a:rPr>
              <a:t>Fast retrieval alone does not guarantee grounded answers.</a:t>
            </a:r>
            <a:endParaRPr lang="en-US" dirty="0"/>
          </a:p>
          <a:p>
            <a:pPr marL="0" indent="0">
              <a:buNone/>
            </a:pPr>
            <a:endParaRPr lang="en-US" sz="3200" b="1" dirty="0">
              <a:solidFill>
                <a:srgbClr val="030303"/>
              </a:solidFill>
              <a:latin typeface="DM Sans SemiBold" pitchFamily="34" charset="0"/>
              <a:ea typeface="DM Sans SemiBold" pitchFamily="34" charset="-122"/>
              <a:cs typeface="DM Sans SemiBold" pitchFamily="34" charset="-120"/>
            </a:endParaRPr>
          </a:p>
          <a:p>
            <a:pPr marL="0" indent="0">
              <a:buNone/>
            </a:pPr>
            <a:r>
              <a:rPr lang="en-US" sz="3200" b="1" dirty="0">
                <a:solidFill>
                  <a:srgbClr val="030303"/>
                </a:solidFill>
                <a:latin typeface="DM Sans SemiBold" pitchFamily="34" charset="0"/>
                <a:ea typeface="DM Sans SemiBold" pitchFamily="34" charset="-122"/>
                <a:cs typeface="DM Sans SemiBold" pitchFamily="34" charset="-120"/>
              </a:rPr>
              <a:t>Objective</a:t>
            </a:r>
          </a:p>
          <a:p>
            <a:pPr marL="0" indent="0">
              <a:buNone/>
            </a:pPr>
            <a:endParaRPr lang="en-US" sz="4200" b="1" dirty="0"/>
          </a:p>
          <a:p>
            <a:pPr marL="457200" lvl="1" indent="0">
              <a:buNone/>
            </a:pPr>
            <a:r>
              <a:rPr lang="en-US" dirty="0">
                <a:solidFill>
                  <a:srgbClr val="464646"/>
                </a:solidFill>
                <a:latin typeface="Inter Medium" pitchFamily="34" charset="0"/>
                <a:ea typeface="Inter Medium" pitchFamily="34" charset="-122"/>
                <a:cs typeface="Inter Medium" pitchFamily="34" charset="-120"/>
              </a:rPr>
              <a:t>Reduce the waiting time before useful evidence is available while maintaining retrieval control, evidence quality and grounded generation.</a:t>
            </a:r>
            <a:endParaRPr lang="en-US" dirty="0"/>
          </a:p>
          <a:p>
            <a:pPr marL="0" indent="0">
              <a:buNone/>
            </a:pPr>
            <a:r>
              <a:rPr lang="en-US" sz="3300" b="1" dirty="0">
                <a:solidFill>
                  <a:srgbClr val="030303"/>
                </a:solidFill>
                <a:latin typeface="DM Sans SemiBold" pitchFamily="34" charset="0"/>
                <a:ea typeface="DM Sans SemiBold" pitchFamily="34" charset="-122"/>
                <a:cs typeface="DM Sans SemiBold" pitchFamily="34" charset="-120"/>
              </a:rPr>
              <a:t>Our Core Idea</a:t>
            </a:r>
          </a:p>
          <a:p>
            <a:pPr marL="0" indent="0">
              <a:buNone/>
            </a:pPr>
            <a:endParaRPr lang="en-US" b="1" dirty="0"/>
          </a:p>
          <a:p>
            <a:pPr marL="457200" lvl="1" indent="0">
              <a:buNone/>
            </a:pPr>
            <a:r>
              <a:rPr lang="en-US" dirty="0">
                <a:solidFill>
                  <a:srgbClr val="464646"/>
                </a:solidFill>
                <a:latin typeface="Inter Medium" pitchFamily="34" charset="0"/>
                <a:ea typeface="Inter Medium" pitchFamily="34" charset="-122"/>
                <a:cs typeface="Inter Medium" pitchFamily="34" charset="-120"/>
              </a:rPr>
              <a:t>Retrieve while the user is speaking — but only when retrieval is justified.</a:t>
            </a:r>
            <a:endParaRPr lang="en-US" dirty="0"/>
          </a:p>
          <a:p>
            <a:pPr marL="0" indent="0">
              <a:buNone/>
            </a:pPr>
            <a:endParaRPr lang="en-IN" dirty="0"/>
          </a:p>
        </p:txBody>
      </p:sp>
      <p:pic>
        <p:nvPicPr>
          <p:cNvPr id="6" name="Image 0" descr="preencoded.png">
            <a:extLst>
              <a:ext uri="{FF2B5EF4-FFF2-40B4-BE49-F238E27FC236}">
                <a16:creationId xmlns:a16="http://schemas.microsoft.com/office/drawing/2014/main" id="{44832185-71B0-3449-D813-ABA3A0CB0635}"/>
              </a:ext>
            </a:extLst>
          </p:cNvPr>
          <p:cNvPicPr>
            <a:picLocks noChangeAspect="1"/>
          </p:cNvPicPr>
          <p:nvPr/>
        </p:nvPicPr>
        <p:blipFill>
          <a:blip r:embed="rId2"/>
          <a:stretch>
            <a:fillRect/>
          </a:stretch>
        </p:blipFill>
        <p:spPr>
          <a:xfrm>
            <a:off x="8048774" y="1397285"/>
            <a:ext cx="3305026" cy="4171308"/>
          </a:xfrm>
          <a:prstGeom prst="rect">
            <a:avLst/>
          </a:prstGeom>
        </p:spPr>
      </p:pic>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397285"/>
            <a:ext cx="10515600" cy="4779678"/>
          </a:xfrm>
        </p:spPr>
        <p:txBody>
          <a:bodyPr/>
          <a:lstStyle/>
          <a:p>
            <a:pPr marL="0" indent="0">
              <a:buNone/>
            </a:pPr>
            <a:r>
              <a:rPr lang="en-US" sz="1600" dirty="0">
                <a:solidFill>
                  <a:srgbClr val="464646"/>
                </a:solidFill>
                <a:latin typeface="Inter Medium" pitchFamily="34" charset="0"/>
                <a:ea typeface="Inter Medium" pitchFamily="34" charset="-122"/>
                <a:cs typeface="Inter Medium" pitchFamily="34" charset="-120"/>
              </a:rPr>
              <a:t>Conventional RAG waits for the full query, while streaming RAG can act earlier — but only with control over retrieval timing, reuse, and evidence quality.</a:t>
            </a:r>
            <a:endParaRPr lang="en-US" sz="1600" dirty="0"/>
          </a:p>
          <a:p>
            <a:pPr marL="0" indent="0">
              <a:buNone/>
            </a:pPr>
            <a:endParaRPr lang="en-IN" dirty="0"/>
          </a:p>
        </p:txBody>
      </p:sp>
      <p:graphicFrame>
        <p:nvGraphicFramePr>
          <p:cNvPr id="4" name="Table 3">
            <a:extLst>
              <a:ext uri="{FF2B5EF4-FFF2-40B4-BE49-F238E27FC236}">
                <a16:creationId xmlns:a16="http://schemas.microsoft.com/office/drawing/2014/main" id="{8ABD3215-2096-B0E5-C8C4-2240433A66FA}"/>
              </a:ext>
            </a:extLst>
          </p:cNvPr>
          <p:cNvGraphicFramePr>
            <a:graphicFrameLocks noGrp="1"/>
          </p:cNvGraphicFramePr>
          <p:nvPr>
            <p:extLst>
              <p:ext uri="{D42A27DB-BD31-4B8C-83A1-F6EECF244321}">
                <p14:modId xmlns:p14="http://schemas.microsoft.com/office/powerpoint/2010/main" val="4048409745"/>
              </p:ext>
            </p:extLst>
          </p:nvPr>
        </p:nvGraphicFramePr>
        <p:xfrm>
          <a:off x="838200" y="2056351"/>
          <a:ext cx="8614025" cy="4450695"/>
        </p:xfrm>
        <a:graphic>
          <a:graphicData uri="http://schemas.openxmlformats.org/drawingml/2006/table">
            <a:tbl>
              <a:tblPr firstRow="1" bandRow="1">
                <a:tableStyleId>{8799B23B-EC83-4686-B30A-512413B5E67A}</a:tableStyleId>
              </a:tblPr>
              <a:tblGrid>
                <a:gridCol w="2213225">
                  <a:extLst>
                    <a:ext uri="{9D8B030D-6E8A-4147-A177-3AD203B41FA5}">
                      <a16:colId xmlns:a16="http://schemas.microsoft.com/office/drawing/2014/main" val="1816975521"/>
                    </a:ext>
                  </a:extLst>
                </a:gridCol>
                <a:gridCol w="2763748">
                  <a:extLst>
                    <a:ext uri="{9D8B030D-6E8A-4147-A177-3AD203B41FA5}">
                      <a16:colId xmlns:a16="http://schemas.microsoft.com/office/drawing/2014/main" val="2924873206"/>
                    </a:ext>
                  </a:extLst>
                </a:gridCol>
                <a:gridCol w="3637052">
                  <a:extLst>
                    <a:ext uri="{9D8B030D-6E8A-4147-A177-3AD203B41FA5}">
                      <a16:colId xmlns:a16="http://schemas.microsoft.com/office/drawing/2014/main" val="3666685340"/>
                    </a:ext>
                  </a:extLst>
                </a:gridCol>
              </a:tblGrid>
              <a:tr h="733295">
                <a:tc>
                  <a:txBody>
                    <a:bodyPr/>
                    <a:lstStyle/>
                    <a:p>
                      <a:pPr marL="0" indent="0">
                        <a:buNone/>
                      </a:pPr>
                      <a:r>
                        <a:rPr lang="en-US" sz="1400" b="1" dirty="0">
                          <a:solidFill>
                            <a:srgbClr val="464646"/>
                          </a:solidFill>
                        </a:rPr>
                        <a:t>Approach</a:t>
                      </a:r>
                      <a:endParaRPr lang="en-US" sz="1400" dirty="0">
                        <a:latin typeface="Inter" charset="0"/>
                        <a:ea typeface="Inter" pitchFamily="34" charset="-122"/>
                        <a:cs typeface="Inter" charset="0"/>
                      </a:endParaRPr>
                    </a:p>
                  </a:txBody>
                  <a:tcPr marL="116294" marR="116294" marT="4763" marB="4763" anchor="ctr"/>
                </a:tc>
                <a:tc>
                  <a:txBody>
                    <a:bodyPr/>
                    <a:lstStyle/>
                    <a:p>
                      <a:pPr marL="0" indent="0">
                        <a:buNone/>
                      </a:pPr>
                      <a:r>
                        <a:rPr lang="en-US" sz="1400" b="1" kern="1200" dirty="0">
                          <a:solidFill>
                            <a:srgbClr val="464646"/>
                          </a:solidFill>
                        </a:rPr>
                        <a:t>Flow</a:t>
                      </a:r>
                      <a:endParaRPr lang="en-US" sz="1400" b="1" kern="1200" dirty="0">
                        <a:solidFill>
                          <a:srgbClr val="464646"/>
                        </a:solidFill>
                        <a:latin typeface="+mn-lt"/>
                        <a:ea typeface="+mn-ea"/>
                        <a:cs typeface="+mn-cs"/>
                      </a:endParaRPr>
                    </a:p>
                  </a:txBody>
                  <a:tcPr marL="116294" marR="116294" marT="4763" marB="4763" anchor="ctr"/>
                </a:tc>
                <a:tc>
                  <a:txBody>
                    <a:bodyPr/>
                    <a:lstStyle/>
                    <a:p>
                      <a:pPr marL="0" indent="0">
                        <a:buNone/>
                      </a:pPr>
                      <a:r>
                        <a:rPr lang="en-US" sz="1400" b="1" dirty="0">
                          <a:solidFill>
                            <a:srgbClr val="464646"/>
                          </a:solidFill>
                        </a:rPr>
                        <a:t>Gap</a:t>
                      </a:r>
                      <a:endParaRPr lang="en-US" sz="1400" dirty="0">
                        <a:latin typeface="Inter" charset="0"/>
                        <a:ea typeface="Inter" charset="0"/>
                        <a:cs typeface="Inter" charset="0"/>
                      </a:endParaRPr>
                    </a:p>
                  </a:txBody>
                  <a:tcPr marL="116294" marR="116294" marT="4763" marB="4763" anchor="ctr"/>
                </a:tc>
                <a:extLst>
                  <a:ext uri="{0D108BD9-81ED-4DB2-BD59-A6C34878D82A}">
                    <a16:rowId xmlns:a16="http://schemas.microsoft.com/office/drawing/2014/main" val="214671210"/>
                  </a:ext>
                </a:extLst>
              </a:tr>
              <a:tr h="743480">
                <a:tc>
                  <a:txBody>
                    <a:bodyPr/>
                    <a:lstStyle/>
                    <a:p>
                      <a:pPr marL="0" indent="0">
                        <a:buNone/>
                      </a:pPr>
                      <a:r>
                        <a:rPr lang="en-US" sz="1100" dirty="0">
                          <a:solidFill>
                            <a:srgbClr val="464646"/>
                          </a:solidFill>
                        </a:rPr>
                        <a:t>Existing RAG</a:t>
                      </a:r>
                      <a:endParaRPr lang="en-US" sz="1100" dirty="0">
                        <a:latin typeface="Inter" charset="0"/>
                        <a:ea typeface="Inter" pitchFamily="34" charset="-122"/>
                        <a:cs typeface="Inter" charset="0"/>
                      </a:endParaRPr>
                    </a:p>
                  </a:txBody>
                  <a:tcPr marL="116294" marR="116294" marT="4763" marB="4763" anchor="ctr"/>
                </a:tc>
                <a:tc>
                  <a:txBody>
                    <a:bodyPr/>
                    <a:lstStyle/>
                    <a:p>
                      <a:pPr marL="0" indent="0">
                        <a:buNone/>
                      </a:pPr>
                      <a:r>
                        <a:rPr lang="en-US" sz="1100" dirty="0">
                          <a:solidFill>
                            <a:srgbClr val="464646"/>
                          </a:solidFill>
                        </a:rPr>
                        <a:t>Query → Retrieve → Rerank → Generate</a:t>
                      </a:r>
                      <a:endParaRPr lang="en-US" sz="1100" dirty="0">
                        <a:latin typeface="Inter" charset="0"/>
                        <a:ea typeface="Inter" pitchFamily="34" charset="-122"/>
                        <a:cs typeface="Inter" charset="0"/>
                      </a:endParaRPr>
                    </a:p>
                  </a:txBody>
                  <a:tcPr marL="116294" marR="116294" marT="4763" marB="4763" anchor="ctr"/>
                </a:tc>
                <a:tc>
                  <a:txBody>
                    <a:bodyPr/>
                    <a:lstStyle/>
                    <a:p>
                      <a:pPr marL="0" indent="0">
                        <a:buNone/>
                      </a:pPr>
                      <a:r>
                        <a:rPr lang="en-US" sz="1100" dirty="0">
                          <a:solidFill>
                            <a:srgbClr val="464646"/>
                          </a:solidFill>
                        </a:rPr>
                        <a:t>Retrieval begins only after the complete query.</a:t>
                      </a:r>
                      <a:endParaRPr lang="en-US" sz="1100" dirty="0">
                        <a:latin typeface="Inter" charset="0"/>
                        <a:ea typeface="Inter" charset="0"/>
                        <a:cs typeface="Inter" charset="0"/>
                      </a:endParaRPr>
                    </a:p>
                  </a:txBody>
                  <a:tcPr marL="116294" marR="116294" marT="4763" marB="4763" anchor="ctr"/>
                </a:tc>
                <a:extLst>
                  <a:ext uri="{0D108BD9-81ED-4DB2-BD59-A6C34878D82A}">
                    <a16:rowId xmlns:a16="http://schemas.microsoft.com/office/drawing/2014/main" val="981240590"/>
                  </a:ext>
                </a:extLst>
              </a:tr>
              <a:tr h="743480">
                <a:tc>
                  <a:txBody>
                    <a:bodyPr/>
                    <a:lstStyle/>
                    <a:p>
                      <a:pPr marL="0" indent="0">
                        <a:buNone/>
                      </a:pPr>
                      <a:r>
                        <a:rPr lang="en-US" sz="1100" dirty="0">
                          <a:solidFill>
                            <a:srgbClr val="464646"/>
                          </a:solidFill>
                        </a:rPr>
                        <a:t>Streaming / Incremental RAG</a:t>
                      </a:r>
                      <a:endParaRPr lang="en-US" sz="1100" dirty="0">
                        <a:latin typeface="Inter" charset="0"/>
                        <a:ea typeface="Inter" charset="0"/>
                        <a:cs typeface="Inter" charset="0"/>
                      </a:endParaRPr>
                    </a:p>
                  </a:txBody>
                  <a:tcPr marL="116294" marR="116294" marT="4763" marB="4763" anchor="ctr"/>
                </a:tc>
                <a:tc>
                  <a:txBody>
                    <a:bodyPr/>
                    <a:lstStyle/>
                    <a:p>
                      <a:pPr marL="0" indent="0">
                        <a:buNone/>
                      </a:pPr>
                      <a:r>
                        <a:rPr lang="en-US" sz="1100" dirty="0">
                          <a:solidFill>
                            <a:srgbClr val="464646"/>
                          </a:solidFill>
                        </a:rPr>
                        <a:t>Partial Query → Retrieve repeatedly</a:t>
                      </a:r>
                      <a:endParaRPr lang="en-US" sz="1100" dirty="0">
                        <a:latin typeface="Inter" charset="0"/>
                        <a:ea typeface="Inter" charset="0"/>
                        <a:cs typeface="Inter" charset="0"/>
                      </a:endParaRPr>
                    </a:p>
                  </a:txBody>
                  <a:tcPr marL="116294" marR="116294" marT="4763" marB="4763" anchor="ctr"/>
                </a:tc>
                <a:tc>
                  <a:txBody>
                    <a:bodyPr/>
                    <a:lstStyle/>
                    <a:p>
                      <a:pPr marL="0" indent="0">
                        <a:buNone/>
                      </a:pPr>
                      <a:r>
                        <a:rPr lang="en-US" sz="1100" dirty="0">
                          <a:solidFill>
                            <a:srgbClr val="464646"/>
                          </a:solidFill>
                        </a:rPr>
                        <a:t>Naively retrieving every partial transcript creates unnecessary retrieval noise and computation.</a:t>
                      </a:r>
                      <a:endParaRPr lang="en-US" sz="1100" dirty="0">
                        <a:latin typeface="Inter" charset="0"/>
                        <a:ea typeface="Inter" charset="0"/>
                        <a:cs typeface="Inter" charset="0"/>
                      </a:endParaRPr>
                    </a:p>
                  </a:txBody>
                  <a:tcPr marL="116294" marR="116294" marT="4763" marB="4763" anchor="ctr"/>
                </a:tc>
                <a:extLst>
                  <a:ext uri="{0D108BD9-81ED-4DB2-BD59-A6C34878D82A}">
                    <a16:rowId xmlns:a16="http://schemas.microsoft.com/office/drawing/2014/main" val="4268499423"/>
                  </a:ext>
                </a:extLst>
              </a:tr>
              <a:tr h="743480">
                <a:tc>
                  <a:txBody>
                    <a:bodyPr/>
                    <a:lstStyle/>
                    <a:p>
                      <a:pPr marL="0" indent="0">
                        <a:buNone/>
                      </a:pPr>
                      <a:r>
                        <a:rPr lang="en-US" sz="1100" dirty="0">
                          <a:solidFill>
                            <a:srgbClr val="464646"/>
                          </a:solidFill>
                        </a:rPr>
                        <a:t>Conventional Query Reuse</a:t>
                      </a:r>
                      <a:endParaRPr lang="en-US" sz="1100" dirty="0">
                        <a:latin typeface="Inter" charset="0"/>
                        <a:ea typeface="Inter" charset="0"/>
                        <a:cs typeface="Inter" charset="0"/>
                      </a:endParaRPr>
                    </a:p>
                  </a:txBody>
                  <a:tcPr marL="116294" marR="116294" marT="4763" marB="4763" anchor="ctr"/>
                </a:tc>
                <a:tc>
                  <a:txBody>
                    <a:bodyPr/>
                    <a:lstStyle/>
                    <a:p>
                      <a:pPr marL="0" indent="0">
                        <a:buNone/>
                      </a:pPr>
                      <a:r>
                        <a:rPr lang="en-US" sz="1100" dirty="0">
                          <a:solidFill>
                            <a:srgbClr val="464646"/>
                          </a:solidFill>
                        </a:rPr>
                        <a:t>Previous Query → Reuse</a:t>
                      </a:r>
                      <a:endParaRPr lang="en-US" sz="1100" dirty="0">
                        <a:latin typeface="Inter" charset="0"/>
                        <a:ea typeface="Inter" charset="0"/>
                        <a:cs typeface="Inter" charset="0"/>
                      </a:endParaRPr>
                    </a:p>
                  </a:txBody>
                  <a:tcPr marL="116294" marR="116294" marT="4763" marB="4763" anchor="ctr"/>
                </a:tc>
                <a:tc>
                  <a:txBody>
                    <a:bodyPr/>
                    <a:lstStyle/>
                    <a:p>
                      <a:pPr marL="0" indent="0">
                        <a:buNone/>
                      </a:pPr>
                      <a:r>
                        <a:rPr lang="en-US" sz="1100" dirty="0">
                          <a:solidFill>
                            <a:srgbClr val="464646"/>
                          </a:solidFill>
                        </a:rPr>
                        <a:t>Does not distinguish between meaningful query extensions, replacements and presentation-only changes.</a:t>
                      </a:r>
                      <a:endParaRPr lang="en-US" sz="1100" dirty="0">
                        <a:latin typeface="Inter" charset="0"/>
                        <a:ea typeface="Inter" charset="0"/>
                        <a:cs typeface="Inter" charset="0"/>
                      </a:endParaRPr>
                    </a:p>
                  </a:txBody>
                  <a:tcPr marL="116294" marR="116294" marT="4763" marB="4763" anchor="ctr"/>
                </a:tc>
                <a:extLst>
                  <a:ext uri="{0D108BD9-81ED-4DB2-BD59-A6C34878D82A}">
                    <a16:rowId xmlns:a16="http://schemas.microsoft.com/office/drawing/2014/main" val="3543048345"/>
                  </a:ext>
                </a:extLst>
              </a:tr>
              <a:tr h="743480">
                <a:tc>
                  <a:txBody>
                    <a:bodyPr/>
                    <a:lstStyle/>
                    <a:p>
                      <a:pPr marL="0" indent="0">
                        <a:buNone/>
                      </a:pPr>
                      <a:r>
                        <a:rPr lang="en-US" sz="1100" dirty="0">
                          <a:solidFill>
                            <a:srgbClr val="464646"/>
                          </a:solidFill>
                        </a:rPr>
                        <a:t>Standard Multi-Document Retrieval</a:t>
                      </a:r>
                      <a:endParaRPr lang="en-US" sz="1100" dirty="0">
                        <a:latin typeface="Inter" charset="0"/>
                        <a:ea typeface="Inter" charset="0"/>
                        <a:cs typeface="Inter" charset="0"/>
                      </a:endParaRPr>
                    </a:p>
                  </a:txBody>
                  <a:tcPr marL="116294" marR="116294" marT="4763" marB="4763" anchor="ctr"/>
                </a:tc>
                <a:tc>
                  <a:txBody>
                    <a:bodyPr/>
                    <a:lstStyle/>
                    <a:p>
                      <a:pPr marL="0" indent="0">
                        <a:buNone/>
                      </a:pPr>
                      <a:r>
                        <a:rPr lang="en-US" sz="1100" dirty="0">
                          <a:solidFill>
                            <a:srgbClr val="464646"/>
                          </a:solidFill>
                        </a:rPr>
                        <a:t>Compound Query → One Evidence Pool</a:t>
                      </a:r>
                      <a:endParaRPr lang="en-US" sz="1100" dirty="0">
                        <a:latin typeface="Inter" charset="0"/>
                        <a:ea typeface="Inter" charset="0"/>
                        <a:cs typeface="Inter" charset="0"/>
                      </a:endParaRPr>
                    </a:p>
                  </a:txBody>
                  <a:tcPr marL="116294" marR="116294" marT="4763" marB="4763" anchor="ctr"/>
                </a:tc>
                <a:tc>
                  <a:txBody>
                    <a:bodyPr/>
                    <a:lstStyle/>
                    <a:p>
                      <a:pPr marL="0" indent="0">
                        <a:buNone/>
                      </a:pPr>
                      <a:r>
                        <a:rPr lang="en-US" sz="1100" dirty="0">
                          <a:solidFill>
                            <a:srgbClr val="464646"/>
                          </a:solidFill>
                        </a:rPr>
                        <a:t>One intent can dominate the evidence budget and starve another intent.</a:t>
                      </a:r>
                      <a:endParaRPr lang="en-US" sz="1100" dirty="0">
                        <a:latin typeface="Inter" charset="0"/>
                        <a:ea typeface="Inter" charset="0"/>
                        <a:cs typeface="Inter" charset="0"/>
                      </a:endParaRPr>
                    </a:p>
                  </a:txBody>
                  <a:tcPr marL="116294" marR="116294" marT="4763" marB="4763" anchor="ctr"/>
                </a:tc>
                <a:extLst>
                  <a:ext uri="{0D108BD9-81ED-4DB2-BD59-A6C34878D82A}">
                    <a16:rowId xmlns:a16="http://schemas.microsoft.com/office/drawing/2014/main" val="244357149"/>
                  </a:ext>
                </a:extLst>
              </a:tr>
              <a:tr h="743480">
                <a:tc>
                  <a:txBody>
                    <a:bodyPr/>
                    <a:lstStyle/>
                    <a:p>
                      <a:pPr marL="0" indent="0">
                        <a:buNone/>
                      </a:pPr>
                      <a:r>
                        <a:rPr lang="en-US" sz="1100" b="1" dirty="0">
                          <a:solidFill>
                            <a:srgbClr val="464646"/>
                          </a:solidFill>
                        </a:rPr>
                        <a:t>Our Approach</a:t>
                      </a:r>
                      <a:endParaRPr lang="en-US" sz="1100" dirty="0">
                        <a:latin typeface="Inter" charset="0"/>
                        <a:ea typeface="Inter" charset="0"/>
                        <a:cs typeface="Inter" charset="0"/>
                      </a:endParaRPr>
                    </a:p>
                  </a:txBody>
                  <a:tcPr marL="116294" marR="116294" marT="4763" marB="4763" anchor="ctr"/>
                </a:tc>
                <a:tc>
                  <a:txBody>
                    <a:bodyPr/>
                    <a:lstStyle/>
                    <a:p>
                      <a:pPr marL="0" indent="0">
                        <a:buNone/>
                      </a:pPr>
                      <a:r>
                        <a:rPr lang="en-US" sz="1100" dirty="0">
                          <a:solidFill>
                            <a:srgbClr val="464646"/>
                          </a:solidFill>
                        </a:rPr>
                        <a:t>Streaming Controller + Reuse/Delta Retrieval + Multi-Intent Isolation + Evidence Gating</a:t>
                      </a:r>
                      <a:endParaRPr lang="en-US" sz="1100" dirty="0">
                        <a:latin typeface="Inter" charset="0"/>
                        <a:ea typeface="Inter" charset="0"/>
                        <a:cs typeface="Inter" charset="0"/>
                      </a:endParaRPr>
                    </a:p>
                  </a:txBody>
                  <a:tcPr marL="116294" marR="116294" marT="4763" marB="4763" anchor="ctr"/>
                </a:tc>
                <a:tc>
                  <a:txBody>
                    <a:bodyPr/>
                    <a:lstStyle/>
                    <a:p>
                      <a:pPr marL="0" indent="0">
                        <a:buNone/>
                      </a:pPr>
                      <a:r>
                        <a:rPr lang="en-US" sz="1100" dirty="0">
                          <a:solidFill>
                            <a:srgbClr val="464646"/>
                          </a:solidFill>
                        </a:rPr>
                        <a:t>This allows the system to decide when to retrieve, what to reuse, what to retrieve newly, and what evidence is allowed into generation.</a:t>
                      </a:r>
                      <a:endParaRPr lang="en-US" sz="1100" dirty="0">
                        <a:latin typeface="Inter" charset="0"/>
                        <a:ea typeface="Inter" charset="0"/>
                        <a:cs typeface="Inter" charset="0"/>
                      </a:endParaRPr>
                    </a:p>
                  </a:txBody>
                  <a:tcPr marL="116294" marR="116294" marT="4763" marB="4763" anchor="ctr"/>
                </a:tc>
                <a:extLst>
                  <a:ext uri="{0D108BD9-81ED-4DB2-BD59-A6C34878D82A}">
                    <a16:rowId xmlns:a16="http://schemas.microsoft.com/office/drawing/2014/main" val="4215955916"/>
                  </a:ext>
                </a:extLst>
              </a:tr>
            </a:tbl>
          </a:graphicData>
        </a:graphic>
      </p:graphicFrame>
      <p:pic>
        <p:nvPicPr>
          <p:cNvPr id="7" name="Image 0" descr="preencoded.png">
            <a:extLst>
              <a:ext uri="{FF2B5EF4-FFF2-40B4-BE49-F238E27FC236}">
                <a16:creationId xmlns:a16="http://schemas.microsoft.com/office/drawing/2014/main" id="{0FDFCB34-20CE-9381-EE5A-A78D9F2934D4}"/>
              </a:ext>
            </a:extLst>
          </p:cNvPr>
          <p:cNvPicPr>
            <a:picLocks noChangeAspect="1"/>
          </p:cNvPicPr>
          <p:nvPr/>
        </p:nvPicPr>
        <p:blipFill>
          <a:blip r:embed="rId2"/>
          <a:stretch>
            <a:fillRect/>
          </a:stretch>
        </p:blipFill>
        <p:spPr>
          <a:xfrm>
            <a:off x="9380305" y="2169484"/>
            <a:ext cx="2616057" cy="3667384"/>
          </a:xfrm>
          <a:prstGeom prst="rect">
            <a:avLst/>
          </a:prstGeom>
        </p:spPr>
      </p:pic>
      <p:sp>
        <p:nvSpPr>
          <p:cNvPr id="9" name="TextBox 8">
            <a:extLst>
              <a:ext uri="{FF2B5EF4-FFF2-40B4-BE49-F238E27FC236}">
                <a16:creationId xmlns:a16="http://schemas.microsoft.com/office/drawing/2014/main" id="{1F6094B5-18AB-CB25-91B8-C5CEF2D63B71}"/>
              </a:ext>
            </a:extLst>
          </p:cNvPr>
          <p:cNvSpPr txBox="1"/>
          <p:nvPr/>
        </p:nvSpPr>
        <p:spPr>
          <a:xfrm>
            <a:off x="3534310" y="-441789"/>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87" name="Image 0" descr="preencoded.png">
            <a:extLst>
              <a:ext uri="{FF2B5EF4-FFF2-40B4-BE49-F238E27FC236}">
                <a16:creationId xmlns:a16="http://schemas.microsoft.com/office/drawing/2014/main" id="{65EF3C62-A787-895E-644C-5156650F760F}"/>
              </a:ext>
            </a:extLst>
          </p:cNvPr>
          <p:cNvPicPr>
            <a:picLocks noGrp="1" noChangeAspect="1"/>
          </p:cNvPicPr>
          <p:nvPr>
            <p:ph idx="1"/>
          </p:nvPr>
        </p:nvPicPr>
        <p:blipFill>
          <a:blip r:embed="rId3"/>
          <a:stretch>
            <a:fillRect/>
          </a:stretch>
        </p:blipFill>
        <p:spPr>
          <a:xfrm>
            <a:off x="791415" y="1592076"/>
            <a:ext cx="8793889" cy="2831893"/>
          </a:xfrm>
          <a:prstGeom prst="rect">
            <a:avLst/>
          </a:prstGeom>
        </p:spPr>
      </p:pic>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167" name="Text 2">
            <a:extLst>
              <a:ext uri="{FF2B5EF4-FFF2-40B4-BE49-F238E27FC236}">
                <a16:creationId xmlns:a16="http://schemas.microsoft.com/office/drawing/2014/main" id="{2B51C7F8-EC02-CFFB-389C-F6186C94ACA1}"/>
              </a:ext>
            </a:extLst>
          </p:cNvPr>
          <p:cNvSpPr/>
          <p:nvPr/>
        </p:nvSpPr>
        <p:spPr>
          <a:xfrm>
            <a:off x="2849975" y="3312634"/>
            <a:ext cx="1286787" cy="534987"/>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464646"/>
                </a:solidFill>
                <a:latin typeface="DM Sans SemiBold" pitchFamily="34" charset="0"/>
                <a:ea typeface="DM Sans SemiBold" pitchFamily="34" charset="-122"/>
                <a:cs typeface="DM Sans SemiBold" pitchFamily="34" charset="-120"/>
              </a:rPr>
              <a:t>Retrieval Controller</a:t>
            </a:r>
            <a:endParaRPr lang="en-US" sz="1400" dirty="0"/>
          </a:p>
        </p:txBody>
      </p:sp>
      <p:sp>
        <p:nvSpPr>
          <p:cNvPr id="169" name="Text 3">
            <a:extLst>
              <a:ext uri="{FF2B5EF4-FFF2-40B4-BE49-F238E27FC236}">
                <a16:creationId xmlns:a16="http://schemas.microsoft.com/office/drawing/2014/main" id="{246B4AEC-2FEB-110E-6313-B3042C3627E4}"/>
              </a:ext>
            </a:extLst>
          </p:cNvPr>
          <p:cNvSpPr/>
          <p:nvPr/>
        </p:nvSpPr>
        <p:spPr>
          <a:xfrm>
            <a:off x="2849975" y="3763272"/>
            <a:ext cx="1286787" cy="511357"/>
          </a:xfrm>
          <a:prstGeom prst="rect">
            <a:avLst/>
          </a:prstGeom>
          <a:noFill/>
          <a:ln/>
        </p:spPr>
        <p:txBody>
          <a:bodyPr wrap="square" lIns="0" tIns="0" rIns="0" bIns="0" rtlCol="0" anchor="t">
            <a:noAutofit/>
          </a:bodyPr>
          <a:lstStyle/>
          <a:p>
            <a:pPr marL="0" indent="0" algn="ctr">
              <a:lnSpc>
                <a:spcPct val="83000"/>
              </a:lnSpc>
              <a:buNone/>
            </a:pPr>
            <a:r>
              <a:rPr lang="en-US" sz="1200" dirty="0">
                <a:solidFill>
                  <a:srgbClr val="464646"/>
                </a:solidFill>
                <a:latin typeface="Inter Medium" pitchFamily="34" charset="0"/>
                <a:ea typeface="Inter Medium" pitchFamily="34" charset="-122"/>
                <a:cs typeface="Inter Medium" pitchFamily="34" charset="-120"/>
              </a:rPr>
              <a:t>Wait / Suppress / Retrieve decisions</a:t>
            </a:r>
            <a:endParaRPr lang="en-US" sz="1200" dirty="0"/>
          </a:p>
        </p:txBody>
      </p:sp>
      <p:sp>
        <p:nvSpPr>
          <p:cNvPr id="171" name="Text 4">
            <a:extLst>
              <a:ext uri="{FF2B5EF4-FFF2-40B4-BE49-F238E27FC236}">
                <a16:creationId xmlns:a16="http://schemas.microsoft.com/office/drawing/2014/main" id="{2FF5E62C-0644-0BFA-60FA-5CA4271F4126}"/>
              </a:ext>
            </a:extLst>
          </p:cNvPr>
          <p:cNvSpPr/>
          <p:nvPr/>
        </p:nvSpPr>
        <p:spPr>
          <a:xfrm>
            <a:off x="6318123" y="3312634"/>
            <a:ext cx="1286787" cy="802479"/>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030303"/>
                </a:solidFill>
                <a:latin typeface="DM Sans SemiBold" pitchFamily="34" charset="0"/>
                <a:ea typeface="DM Sans SemiBold" pitchFamily="34" charset="-122"/>
                <a:cs typeface="DM Sans SemiBold" pitchFamily="34" charset="-120"/>
              </a:rPr>
              <a:t>Multi-Intent Decomposition</a:t>
            </a:r>
            <a:endParaRPr lang="en-US" sz="1400" dirty="0"/>
          </a:p>
        </p:txBody>
      </p:sp>
      <p:sp>
        <p:nvSpPr>
          <p:cNvPr id="173" name="Text 5">
            <a:extLst>
              <a:ext uri="{FF2B5EF4-FFF2-40B4-BE49-F238E27FC236}">
                <a16:creationId xmlns:a16="http://schemas.microsoft.com/office/drawing/2014/main" id="{CEAB3E5C-D3F8-3170-C3E3-0F401469CCF1}"/>
              </a:ext>
            </a:extLst>
          </p:cNvPr>
          <p:cNvSpPr/>
          <p:nvPr/>
        </p:nvSpPr>
        <p:spPr>
          <a:xfrm>
            <a:off x="6318123" y="3862982"/>
            <a:ext cx="1286787" cy="340905"/>
          </a:xfrm>
          <a:prstGeom prst="rect">
            <a:avLst/>
          </a:prstGeom>
          <a:noFill/>
          <a:ln/>
        </p:spPr>
        <p:txBody>
          <a:bodyPr wrap="square" lIns="0" tIns="0" rIns="0" bIns="0" rtlCol="0" anchor="t">
            <a:noAutofit/>
          </a:bodyPr>
          <a:lstStyle/>
          <a:p>
            <a:pPr marL="0" indent="0" algn="ctr">
              <a:lnSpc>
                <a:spcPct val="83000"/>
              </a:lnSpc>
              <a:buNone/>
            </a:pPr>
            <a:r>
              <a:rPr lang="en-US" sz="1200" dirty="0">
                <a:solidFill>
                  <a:srgbClr val="464646"/>
                </a:solidFill>
                <a:latin typeface="Inter Medium" pitchFamily="34" charset="0"/>
                <a:ea typeface="Inter Medium" pitchFamily="34" charset="-122"/>
                <a:cs typeface="Inter Medium" pitchFamily="34" charset="-120"/>
              </a:rPr>
              <a:t>Split into focused intents</a:t>
            </a:r>
            <a:endParaRPr lang="en-US" sz="1200" dirty="0"/>
          </a:p>
        </p:txBody>
      </p:sp>
      <p:sp>
        <p:nvSpPr>
          <p:cNvPr id="175" name="Text 6">
            <a:extLst>
              <a:ext uri="{FF2B5EF4-FFF2-40B4-BE49-F238E27FC236}">
                <a16:creationId xmlns:a16="http://schemas.microsoft.com/office/drawing/2014/main" id="{D5915D2D-668C-AFC1-18ED-81BCB0EE644E}"/>
              </a:ext>
            </a:extLst>
          </p:cNvPr>
          <p:cNvSpPr/>
          <p:nvPr/>
        </p:nvSpPr>
        <p:spPr>
          <a:xfrm>
            <a:off x="1188407" y="1876268"/>
            <a:ext cx="1286787" cy="534985"/>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464646"/>
                </a:solidFill>
                <a:latin typeface="DM Sans SemiBold" pitchFamily="34" charset="0"/>
                <a:ea typeface="DM Sans SemiBold" pitchFamily="34" charset="-122"/>
                <a:cs typeface="DM Sans SemiBold" pitchFamily="34" charset="-120"/>
              </a:rPr>
              <a:t>Live Transcript</a:t>
            </a:r>
            <a:endParaRPr lang="en-US" sz="1400" dirty="0"/>
          </a:p>
        </p:txBody>
      </p:sp>
      <p:sp>
        <p:nvSpPr>
          <p:cNvPr id="177" name="Text 7">
            <a:extLst>
              <a:ext uri="{FF2B5EF4-FFF2-40B4-BE49-F238E27FC236}">
                <a16:creationId xmlns:a16="http://schemas.microsoft.com/office/drawing/2014/main" id="{24C9980B-13B4-32C9-FE4D-81D6657E23D3}"/>
              </a:ext>
            </a:extLst>
          </p:cNvPr>
          <p:cNvSpPr/>
          <p:nvPr/>
        </p:nvSpPr>
        <p:spPr>
          <a:xfrm>
            <a:off x="1188406" y="2245571"/>
            <a:ext cx="1286787" cy="511357"/>
          </a:xfrm>
          <a:prstGeom prst="rect">
            <a:avLst/>
          </a:prstGeom>
          <a:noFill/>
          <a:ln/>
        </p:spPr>
        <p:txBody>
          <a:bodyPr wrap="square" lIns="0" tIns="0" rIns="0" bIns="0" rtlCol="0" anchor="t">
            <a:noAutofit/>
          </a:bodyPr>
          <a:lstStyle/>
          <a:p>
            <a:pPr marL="0" indent="0" algn="ctr">
              <a:lnSpc>
                <a:spcPct val="83000"/>
              </a:lnSpc>
              <a:buNone/>
            </a:pPr>
            <a:r>
              <a:rPr lang="en-US" sz="1200" dirty="0">
                <a:solidFill>
                  <a:srgbClr val="464646"/>
                </a:solidFill>
                <a:latin typeface="Inter Medium" pitchFamily="34" charset="0"/>
                <a:ea typeface="Inter Medium" pitchFamily="34" charset="-122"/>
                <a:cs typeface="Inter Medium" pitchFamily="34" charset="-120"/>
              </a:rPr>
              <a:t>Partial transcript triggers preparation</a:t>
            </a:r>
            <a:endParaRPr lang="en-US" sz="1200" dirty="0"/>
          </a:p>
        </p:txBody>
      </p:sp>
      <p:sp>
        <p:nvSpPr>
          <p:cNvPr id="179" name="Text 8">
            <a:extLst>
              <a:ext uri="{FF2B5EF4-FFF2-40B4-BE49-F238E27FC236}">
                <a16:creationId xmlns:a16="http://schemas.microsoft.com/office/drawing/2014/main" id="{CF66D317-6B9D-0EE5-DB8D-1D8DE6494183}"/>
              </a:ext>
            </a:extLst>
          </p:cNvPr>
          <p:cNvSpPr/>
          <p:nvPr/>
        </p:nvSpPr>
        <p:spPr>
          <a:xfrm>
            <a:off x="7859419" y="1804671"/>
            <a:ext cx="1286787" cy="534985"/>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464646"/>
                </a:solidFill>
                <a:latin typeface="DM Sans SemiBold" pitchFamily="34" charset="0"/>
                <a:ea typeface="DM Sans SemiBold" pitchFamily="34" charset="-122"/>
                <a:cs typeface="DM Sans SemiBold" pitchFamily="34" charset="-120"/>
              </a:rPr>
              <a:t>Retrieval Types</a:t>
            </a:r>
            <a:endParaRPr lang="en-US" sz="1400" dirty="0"/>
          </a:p>
        </p:txBody>
      </p:sp>
      <p:sp>
        <p:nvSpPr>
          <p:cNvPr id="181" name="Text 9">
            <a:extLst>
              <a:ext uri="{FF2B5EF4-FFF2-40B4-BE49-F238E27FC236}">
                <a16:creationId xmlns:a16="http://schemas.microsoft.com/office/drawing/2014/main" id="{0274A9EF-CFE8-8E56-046F-89BB743C3AD0}"/>
              </a:ext>
            </a:extLst>
          </p:cNvPr>
          <p:cNvSpPr/>
          <p:nvPr/>
        </p:nvSpPr>
        <p:spPr>
          <a:xfrm>
            <a:off x="7904921" y="2245571"/>
            <a:ext cx="1286787" cy="511357"/>
          </a:xfrm>
          <a:prstGeom prst="rect">
            <a:avLst/>
          </a:prstGeom>
          <a:noFill/>
          <a:ln/>
        </p:spPr>
        <p:txBody>
          <a:bodyPr wrap="square" lIns="0" tIns="0" rIns="0" bIns="0" rtlCol="0" anchor="t">
            <a:noAutofit/>
          </a:bodyPr>
          <a:lstStyle/>
          <a:p>
            <a:pPr marL="0" indent="0" algn="ctr">
              <a:lnSpc>
                <a:spcPct val="83000"/>
              </a:lnSpc>
              <a:buNone/>
            </a:pPr>
            <a:r>
              <a:rPr lang="en-US" sz="1200" dirty="0">
                <a:solidFill>
                  <a:srgbClr val="464646"/>
                </a:solidFill>
                <a:latin typeface="Inter Medium" pitchFamily="34" charset="0"/>
                <a:ea typeface="Inter Medium" pitchFamily="34" charset="-122"/>
                <a:cs typeface="Inter Medium" pitchFamily="34" charset="-120"/>
              </a:rPr>
              <a:t>Early / Reused / Delta retrieval paths</a:t>
            </a:r>
            <a:endParaRPr lang="en-US" sz="1200" dirty="0"/>
          </a:p>
        </p:txBody>
      </p:sp>
      <p:sp>
        <p:nvSpPr>
          <p:cNvPr id="183" name="Text 10">
            <a:extLst>
              <a:ext uri="{FF2B5EF4-FFF2-40B4-BE49-F238E27FC236}">
                <a16:creationId xmlns:a16="http://schemas.microsoft.com/office/drawing/2014/main" id="{366E818B-B776-6C0C-D74D-58850419A40A}"/>
              </a:ext>
            </a:extLst>
          </p:cNvPr>
          <p:cNvSpPr/>
          <p:nvPr/>
        </p:nvSpPr>
        <p:spPr>
          <a:xfrm>
            <a:off x="4523913" y="1778075"/>
            <a:ext cx="1286787" cy="534985"/>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030303"/>
                </a:solidFill>
                <a:latin typeface="DM Sans SemiBold" pitchFamily="34" charset="0"/>
                <a:ea typeface="DM Sans SemiBold" pitchFamily="34" charset="-122"/>
                <a:cs typeface="DM Sans SemiBold" pitchFamily="34" charset="-120"/>
              </a:rPr>
              <a:t>Query Refinement</a:t>
            </a:r>
            <a:endParaRPr lang="en-US" sz="1400" dirty="0"/>
          </a:p>
        </p:txBody>
      </p:sp>
      <p:sp>
        <p:nvSpPr>
          <p:cNvPr id="185" name="Text 11">
            <a:extLst>
              <a:ext uri="{FF2B5EF4-FFF2-40B4-BE49-F238E27FC236}">
                <a16:creationId xmlns:a16="http://schemas.microsoft.com/office/drawing/2014/main" id="{F430A95B-7934-2AAF-CC0D-440E7B674B4E}"/>
              </a:ext>
            </a:extLst>
          </p:cNvPr>
          <p:cNvSpPr/>
          <p:nvPr/>
        </p:nvSpPr>
        <p:spPr>
          <a:xfrm>
            <a:off x="4569415" y="2264236"/>
            <a:ext cx="1286787" cy="913613"/>
          </a:xfrm>
          <a:prstGeom prst="rect">
            <a:avLst/>
          </a:prstGeom>
          <a:noFill/>
          <a:ln/>
        </p:spPr>
        <p:txBody>
          <a:bodyPr wrap="square" lIns="0" tIns="0" rIns="0" bIns="0" rtlCol="0" anchor="t">
            <a:normAutofit/>
          </a:bodyPr>
          <a:lstStyle/>
          <a:p>
            <a:pPr marL="0" indent="0" algn="ctr">
              <a:lnSpc>
                <a:spcPct val="83000"/>
              </a:lnSpc>
              <a:buNone/>
            </a:pPr>
            <a:r>
              <a:rPr lang="en-US" sz="1200" dirty="0">
                <a:solidFill>
                  <a:srgbClr val="464646"/>
                </a:solidFill>
                <a:latin typeface="Inter Medium" pitchFamily="34" charset="0"/>
                <a:ea typeface="Inter Medium" pitchFamily="34" charset="-122"/>
                <a:cs typeface="Inter Medium" pitchFamily="34" charset="-120"/>
              </a:rPr>
              <a:t>New / Additive / Replacement / Presentation</a:t>
            </a:r>
            <a:endParaRPr lang="en-US" sz="1200" dirty="0"/>
          </a:p>
        </p:txBody>
      </p:sp>
      <p:sp>
        <p:nvSpPr>
          <p:cNvPr id="188" name="TextBox 187">
            <a:extLst>
              <a:ext uri="{FF2B5EF4-FFF2-40B4-BE49-F238E27FC236}">
                <a16:creationId xmlns:a16="http://schemas.microsoft.com/office/drawing/2014/main" id="{E82699C9-4547-14A3-E579-875CFD607D30}"/>
              </a:ext>
            </a:extLst>
          </p:cNvPr>
          <p:cNvSpPr txBox="1"/>
          <p:nvPr/>
        </p:nvSpPr>
        <p:spPr>
          <a:xfrm>
            <a:off x="1020225" y="1215668"/>
            <a:ext cx="3659499" cy="255391"/>
          </a:xfrm>
          <a:prstGeom prst="rect">
            <a:avLst/>
          </a:prstGeom>
          <a:noFill/>
        </p:spPr>
        <p:txBody>
          <a:bodyPr wrap="square" rtlCol="0">
            <a:spAutoFit/>
          </a:bodyPr>
          <a:lstStyle/>
          <a:p>
            <a:pPr>
              <a:lnSpc>
                <a:spcPct val="106000"/>
              </a:lnSpc>
              <a:spcAft>
                <a:spcPts val="350"/>
              </a:spcAft>
            </a:pPr>
            <a:r>
              <a:rPr lang="en-US" sz="1050" b="1" dirty="0">
                <a:solidFill>
                  <a:srgbClr val="464646"/>
                </a:solidFill>
                <a:latin typeface="Inter Bold" pitchFamily="34" charset="0"/>
                <a:ea typeface="Inter Bold" pitchFamily="34" charset="-122"/>
                <a:cs typeface="Inter Bold" pitchFamily="34" charset="-120"/>
              </a:rPr>
              <a:t>Streaming-Live-RAG Architecture</a:t>
            </a:r>
            <a:endParaRPr lang="en-US" sz="1050" b="1" dirty="0"/>
          </a:p>
        </p:txBody>
      </p:sp>
      <p:sp>
        <p:nvSpPr>
          <p:cNvPr id="281" name="TextBox 280">
            <a:extLst>
              <a:ext uri="{FF2B5EF4-FFF2-40B4-BE49-F238E27FC236}">
                <a16:creationId xmlns:a16="http://schemas.microsoft.com/office/drawing/2014/main" id="{802E527D-C130-05B9-E152-B5A5A1164429}"/>
              </a:ext>
            </a:extLst>
          </p:cNvPr>
          <p:cNvSpPr txBox="1"/>
          <p:nvPr/>
        </p:nvSpPr>
        <p:spPr>
          <a:xfrm>
            <a:off x="6566133" y="5588822"/>
            <a:ext cx="2385665" cy="347018"/>
          </a:xfrm>
          <a:prstGeom prst="rect">
            <a:avLst/>
          </a:prstGeom>
          <a:noFill/>
        </p:spPr>
        <p:txBody>
          <a:bodyPr wrap="square">
            <a:spAutoFit/>
          </a:bodyPr>
          <a:lstStyle/>
          <a:p>
            <a:pPr>
              <a:lnSpc>
                <a:spcPct val="106000"/>
              </a:lnSpc>
            </a:pPr>
            <a:r>
              <a:rPr lang="en-US" sz="800">
                <a:solidFill>
                  <a:srgbClr val="464646"/>
                </a:solidFill>
                <a:latin typeface="Inter Medium" pitchFamily="34" charset="0"/>
                <a:ea typeface="Inter Medium" pitchFamily="34" charset="-122"/>
                <a:cs typeface="Inter Medium" pitchFamily="34" charset="-120"/>
              </a:rPr>
              <a:t>Compound requests are split into focused intents and matched to the right retrieval path.</a:t>
            </a:r>
            <a:endParaRPr lang="en-US" sz="800" dirty="0"/>
          </a:p>
        </p:txBody>
      </p:sp>
      <p:sp>
        <p:nvSpPr>
          <p:cNvPr id="283" name="TextBox 282">
            <a:extLst>
              <a:ext uri="{FF2B5EF4-FFF2-40B4-BE49-F238E27FC236}">
                <a16:creationId xmlns:a16="http://schemas.microsoft.com/office/drawing/2014/main" id="{43D718ED-92AD-A6B6-EAE5-3E09D8797DF4}"/>
              </a:ext>
            </a:extLst>
          </p:cNvPr>
          <p:cNvSpPr txBox="1"/>
          <p:nvPr/>
        </p:nvSpPr>
        <p:spPr>
          <a:xfrm>
            <a:off x="919157" y="4568069"/>
            <a:ext cx="2587497" cy="255326"/>
          </a:xfrm>
          <a:prstGeom prst="rect">
            <a:avLst/>
          </a:prstGeom>
          <a:noFill/>
        </p:spPr>
        <p:txBody>
          <a:bodyPr wrap="square">
            <a:spAutoFit/>
          </a:bodyPr>
          <a:lstStyle/>
          <a:p>
            <a:pPr marL="0" indent="0" algn="l">
              <a:lnSpc>
                <a:spcPct val="106000"/>
              </a:lnSpc>
              <a:buNone/>
            </a:pPr>
            <a:r>
              <a:rPr lang="en-US" sz="1050" b="1" dirty="0">
                <a:solidFill>
                  <a:srgbClr val="464646"/>
                </a:solidFill>
                <a:latin typeface="Inter Bold" pitchFamily="34" charset="0"/>
                <a:ea typeface="Inter Bold" pitchFamily="34" charset="-122"/>
                <a:cs typeface="Inter Bold" pitchFamily="34" charset="-120"/>
              </a:rPr>
              <a:t>Input to Output Flow:</a:t>
            </a:r>
            <a:endParaRPr lang="en-US" sz="1050" dirty="0"/>
          </a:p>
        </p:txBody>
      </p:sp>
      <p:sp>
        <p:nvSpPr>
          <p:cNvPr id="286" name="Text 2">
            <a:extLst>
              <a:ext uri="{FF2B5EF4-FFF2-40B4-BE49-F238E27FC236}">
                <a16:creationId xmlns:a16="http://schemas.microsoft.com/office/drawing/2014/main" id="{22EA99F0-FA7D-F688-A918-39AEFEDDBD06}"/>
              </a:ext>
            </a:extLst>
          </p:cNvPr>
          <p:cNvSpPr/>
          <p:nvPr/>
        </p:nvSpPr>
        <p:spPr>
          <a:xfrm>
            <a:off x="2606695" y="3144351"/>
            <a:ext cx="1286787" cy="534987"/>
          </a:xfrm>
          <a:prstGeom prst="rect">
            <a:avLst/>
          </a:prstGeom>
          <a:noFill/>
          <a:ln/>
        </p:spPr>
        <p:txBody>
          <a:bodyPr wrap="square" lIns="0" tIns="0" rIns="0" bIns="0" rtlCol="0" anchor="t">
            <a:normAutofit/>
          </a:bodyPr>
          <a:lstStyle/>
          <a:p>
            <a:pPr marL="0" indent="0" algn="ctr">
              <a:lnSpc>
                <a:spcPct val="104000"/>
              </a:lnSpc>
              <a:buNone/>
            </a:pPr>
            <a:endParaRPr lang="en-US" sz="1400" dirty="0"/>
          </a:p>
        </p:txBody>
      </p:sp>
      <p:sp>
        <p:nvSpPr>
          <p:cNvPr id="318" name="TextBox 317">
            <a:extLst>
              <a:ext uri="{FF2B5EF4-FFF2-40B4-BE49-F238E27FC236}">
                <a16:creationId xmlns:a16="http://schemas.microsoft.com/office/drawing/2014/main" id="{5D36CA84-BB80-84BF-128E-1DD326CA9E16}"/>
              </a:ext>
            </a:extLst>
          </p:cNvPr>
          <p:cNvSpPr txBox="1"/>
          <p:nvPr/>
        </p:nvSpPr>
        <p:spPr>
          <a:xfrm>
            <a:off x="2504960" y="5194973"/>
            <a:ext cx="184731" cy="369332"/>
          </a:xfrm>
          <a:prstGeom prst="rect">
            <a:avLst/>
          </a:prstGeom>
          <a:noFill/>
        </p:spPr>
        <p:txBody>
          <a:bodyPr wrap="none" rtlCol="0">
            <a:spAutoFit/>
          </a:bodyPr>
          <a:lstStyle/>
          <a:p>
            <a:endParaRPr lang="en-IN" dirty="0"/>
          </a:p>
        </p:txBody>
      </p:sp>
      <p:sp>
        <p:nvSpPr>
          <p:cNvPr id="320" name="TextBox 319">
            <a:extLst>
              <a:ext uri="{FF2B5EF4-FFF2-40B4-BE49-F238E27FC236}">
                <a16:creationId xmlns:a16="http://schemas.microsoft.com/office/drawing/2014/main" id="{340EE97D-780F-EE37-4033-E67D83FB2E58}"/>
              </a:ext>
            </a:extLst>
          </p:cNvPr>
          <p:cNvSpPr txBox="1"/>
          <p:nvPr/>
        </p:nvSpPr>
        <p:spPr>
          <a:xfrm>
            <a:off x="2802467" y="-296333"/>
            <a:ext cx="184731" cy="369332"/>
          </a:xfrm>
          <a:prstGeom prst="rect">
            <a:avLst/>
          </a:prstGeom>
          <a:noFill/>
        </p:spPr>
        <p:txBody>
          <a:bodyPr wrap="none" rtlCol="0">
            <a:spAutoFit/>
          </a:bodyPr>
          <a:lstStyle/>
          <a:p>
            <a:endParaRPr lang="en-IN" dirty="0"/>
          </a:p>
        </p:txBody>
      </p:sp>
      <p:sp>
        <p:nvSpPr>
          <p:cNvPr id="324" name="Shape 27">
            <a:extLst>
              <a:ext uri="{FF2B5EF4-FFF2-40B4-BE49-F238E27FC236}">
                <a16:creationId xmlns:a16="http://schemas.microsoft.com/office/drawing/2014/main" id="{0696277F-9F67-96BB-AA84-3F3EE2A5BB38}"/>
              </a:ext>
            </a:extLst>
          </p:cNvPr>
          <p:cNvSpPr/>
          <p:nvPr/>
        </p:nvSpPr>
        <p:spPr>
          <a:xfrm>
            <a:off x="1184000" y="4930623"/>
            <a:ext cx="403986" cy="454018"/>
          </a:xfrm>
          <a:prstGeom prst="ellipse">
            <a:avLst/>
          </a:prstGeom>
          <a:solidFill>
            <a:srgbClr val="F2EEEE"/>
          </a:solidFill>
          <a:ln/>
        </p:spPr>
      </p:sp>
      <p:pic>
        <p:nvPicPr>
          <p:cNvPr id="326" name="Image 1" descr="preencoded.png">
            <a:extLst>
              <a:ext uri="{FF2B5EF4-FFF2-40B4-BE49-F238E27FC236}">
                <a16:creationId xmlns:a16="http://schemas.microsoft.com/office/drawing/2014/main" id="{5873F8B3-F053-E7F5-7315-B72EE55170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0151" y="5064171"/>
            <a:ext cx="293969" cy="181859"/>
          </a:xfrm>
          <a:prstGeom prst="rect">
            <a:avLst/>
          </a:prstGeom>
        </p:spPr>
      </p:pic>
      <p:sp>
        <p:nvSpPr>
          <p:cNvPr id="328" name="Shape 15">
            <a:extLst>
              <a:ext uri="{FF2B5EF4-FFF2-40B4-BE49-F238E27FC236}">
                <a16:creationId xmlns:a16="http://schemas.microsoft.com/office/drawing/2014/main" id="{32280DCF-4127-3D02-ACCF-0791FA6C0750}"/>
              </a:ext>
            </a:extLst>
          </p:cNvPr>
          <p:cNvSpPr/>
          <p:nvPr/>
        </p:nvSpPr>
        <p:spPr>
          <a:xfrm>
            <a:off x="1433704" y="5036089"/>
            <a:ext cx="1562324" cy="243085"/>
          </a:xfrm>
          <a:prstGeom prst="roundRect">
            <a:avLst>
              <a:gd name="adj" fmla="val 15012"/>
            </a:avLst>
          </a:prstGeom>
          <a:solidFill>
            <a:srgbClr val="F2EEEE"/>
          </a:solidFill>
          <a:ln/>
        </p:spPr>
      </p:sp>
      <p:sp>
        <p:nvSpPr>
          <p:cNvPr id="330" name="TextBox 329">
            <a:extLst>
              <a:ext uri="{FF2B5EF4-FFF2-40B4-BE49-F238E27FC236}">
                <a16:creationId xmlns:a16="http://schemas.microsoft.com/office/drawing/2014/main" id="{1482E07A-3920-A351-5C4D-DD02CD91317F}"/>
              </a:ext>
            </a:extLst>
          </p:cNvPr>
          <p:cNvSpPr txBox="1"/>
          <p:nvPr/>
        </p:nvSpPr>
        <p:spPr>
          <a:xfrm>
            <a:off x="1160177" y="5379577"/>
            <a:ext cx="2864372" cy="229935"/>
          </a:xfrm>
          <a:prstGeom prst="rect">
            <a:avLst/>
          </a:prstGeom>
          <a:noFill/>
        </p:spPr>
        <p:txBody>
          <a:bodyPr wrap="square">
            <a:spAutoFit/>
          </a:bodyPr>
          <a:lstStyle/>
          <a:p>
            <a:pPr marL="0" indent="0" algn="l">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Input Stream</a:t>
            </a:r>
            <a:endParaRPr lang="en-US" sz="900" dirty="0"/>
          </a:p>
        </p:txBody>
      </p:sp>
      <p:sp>
        <p:nvSpPr>
          <p:cNvPr id="332" name="TextBox 331">
            <a:extLst>
              <a:ext uri="{FF2B5EF4-FFF2-40B4-BE49-F238E27FC236}">
                <a16:creationId xmlns:a16="http://schemas.microsoft.com/office/drawing/2014/main" id="{01D4830E-1F4B-9E4A-41E6-F021D6B7EB18}"/>
              </a:ext>
            </a:extLst>
          </p:cNvPr>
          <p:cNvSpPr txBox="1"/>
          <p:nvPr/>
        </p:nvSpPr>
        <p:spPr>
          <a:xfrm>
            <a:off x="1146280" y="5597335"/>
            <a:ext cx="2619155" cy="232051"/>
          </a:xfrm>
          <a:prstGeom prst="rect">
            <a:avLst/>
          </a:prstGeom>
          <a:noFill/>
        </p:spPr>
        <p:txBody>
          <a:bodyPr wrap="square">
            <a:spAutoFit/>
          </a:bodyPr>
          <a:lstStyle/>
          <a:p>
            <a:pPr marL="0" indent="0" algn="l">
              <a:lnSpc>
                <a:spcPct val="106000"/>
              </a:lnSpc>
              <a:buNone/>
            </a:pPr>
            <a:r>
              <a:rPr lang="en-US" sz="900" dirty="0">
                <a:solidFill>
                  <a:srgbClr val="464646"/>
                </a:solidFill>
                <a:latin typeface="Inter Medium" pitchFamily="34" charset="0"/>
                <a:ea typeface="Inter Medium" pitchFamily="34" charset="-122"/>
                <a:cs typeface="Inter Medium" pitchFamily="34" charset="-120"/>
              </a:rPr>
              <a:t>Live transcript enters the system incrementally.</a:t>
            </a:r>
            <a:endParaRPr lang="en-US" sz="900" dirty="0"/>
          </a:p>
        </p:txBody>
      </p:sp>
      <p:sp>
        <p:nvSpPr>
          <p:cNvPr id="333" name="TextBox 332">
            <a:extLst>
              <a:ext uri="{FF2B5EF4-FFF2-40B4-BE49-F238E27FC236}">
                <a16:creationId xmlns:a16="http://schemas.microsoft.com/office/drawing/2014/main" id="{58E838AC-9653-4981-6679-6AC789DB441A}"/>
              </a:ext>
            </a:extLst>
          </p:cNvPr>
          <p:cNvSpPr txBox="1"/>
          <p:nvPr/>
        </p:nvSpPr>
        <p:spPr>
          <a:xfrm>
            <a:off x="4394200" y="6697133"/>
            <a:ext cx="184731" cy="369332"/>
          </a:xfrm>
          <a:prstGeom prst="rect">
            <a:avLst/>
          </a:prstGeom>
          <a:noFill/>
        </p:spPr>
        <p:txBody>
          <a:bodyPr wrap="none" rtlCol="0">
            <a:spAutoFit/>
          </a:bodyPr>
          <a:lstStyle/>
          <a:p>
            <a:endParaRPr lang="en-IN" dirty="0"/>
          </a:p>
        </p:txBody>
      </p:sp>
      <p:sp>
        <p:nvSpPr>
          <p:cNvPr id="339" name="Shape 27">
            <a:extLst>
              <a:ext uri="{FF2B5EF4-FFF2-40B4-BE49-F238E27FC236}">
                <a16:creationId xmlns:a16="http://schemas.microsoft.com/office/drawing/2014/main" id="{0A087933-38F6-79FB-DB22-CACBF2FA3260}"/>
              </a:ext>
            </a:extLst>
          </p:cNvPr>
          <p:cNvSpPr/>
          <p:nvPr/>
        </p:nvSpPr>
        <p:spPr>
          <a:xfrm>
            <a:off x="3843636" y="4930623"/>
            <a:ext cx="403986" cy="454018"/>
          </a:xfrm>
          <a:prstGeom prst="ellipse">
            <a:avLst/>
          </a:prstGeom>
          <a:solidFill>
            <a:srgbClr val="F2EEEE"/>
          </a:solidFill>
          <a:ln/>
        </p:spPr>
      </p:sp>
      <p:sp>
        <p:nvSpPr>
          <p:cNvPr id="341" name="Shape 15">
            <a:extLst>
              <a:ext uri="{FF2B5EF4-FFF2-40B4-BE49-F238E27FC236}">
                <a16:creationId xmlns:a16="http://schemas.microsoft.com/office/drawing/2014/main" id="{E03D1190-EE84-F8CE-B992-E6D51B720D90}"/>
              </a:ext>
            </a:extLst>
          </p:cNvPr>
          <p:cNvSpPr/>
          <p:nvPr/>
        </p:nvSpPr>
        <p:spPr>
          <a:xfrm>
            <a:off x="4164179" y="5033310"/>
            <a:ext cx="1562324" cy="243085"/>
          </a:xfrm>
          <a:prstGeom prst="roundRect">
            <a:avLst>
              <a:gd name="adj" fmla="val 15012"/>
            </a:avLst>
          </a:prstGeom>
          <a:solidFill>
            <a:srgbClr val="F2EEEE"/>
          </a:solidFill>
          <a:ln/>
        </p:spPr>
      </p:sp>
      <p:sp>
        <p:nvSpPr>
          <p:cNvPr id="343" name="Shape 15">
            <a:extLst>
              <a:ext uri="{FF2B5EF4-FFF2-40B4-BE49-F238E27FC236}">
                <a16:creationId xmlns:a16="http://schemas.microsoft.com/office/drawing/2014/main" id="{E6DABC25-89D2-D9A9-EB22-E41EBA8B170E}"/>
              </a:ext>
            </a:extLst>
          </p:cNvPr>
          <p:cNvSpPr/>
          <p:nvPr/>
        </p:nvSpPr>
        <p:spPr>
          <a:xfrm>
            <a:off x="6940918" y="4999554"/>
            <a:ext cx="1562324" cy="243085"/>
          </a:xfrm>
          <a:prstGeom prst="roundRect">
            <a:avLst>
              <a:gd name="adj" fmla="val 15012"/>
            </a:avLst>
          </a:prstGeom>
          <a:solidFill>
            <a:srgbClr val="F2EEEE"/>
          </a:solidFill>
          <a:ln/>
        </p:spPr>
      </p:sp>
      <p:sp>
        <p:nvSpPr>
          <p:cNvPr id="345" name="Shape 15">
            <a:extLst>
              <a:ext uri="{FF2B5EF4-FFF2-40B4-BE49-F238E27FC236}">
                <a16:creationId xmlns:a16="http://schemas.microsoft.com/office/drawing/2014/main" id="{D47EA965-267F-23CB-9A56-FED5334A846A}"/>
              </a:ext>
            </a:extLst>
          </p:cNvPr>
          <p:cNvSpPr/>
          <p:nvPr/>
        </p:nvSpPr>
        <p:spPr>
          <a:xfrm>
            <a:off x="9660366" y="4966148"/>
            <a:ext cx="1562324" cy="243085"/>
          </a:xfrm>
          <a:prstGeom prst="roundRect">
            <a:avLst>
              <a:gd name="adj" fmla="val 15012"/>
            </a:avLst>
          </a:prstGeom>
          <a:solidFill>
            <a:srgbClr val="F2EEEE"/>
          </a:solidFill>
          <a:ln/>
        </p:spPr>
      </p:sp>
      <p:sp>
        <p:nvSpPr>
          <p:cNvPr id="347" name="Shape 27">
            <a:extLst>
              <a:ext uri="{FF2B5EF4-FFF2-40B4-BE49-F238E27FC236}">
                <a16:creationId xmlns:a16="http://schemas.microsoft.com/office/drawing/2014/main" id="{C4EE0B5D-C9A2-0A63-F1D1-58A0F36B02EE}"/>
              </a:ext>
            </a:extLst>
          </p:cNvPr>
          <p:cNvSpPr/>
          <p:nvPr/>
        </p:nvSpPr>
        <p:spPr>
          <a:xfrm>
            <a:off x="6563573" y="4894087"/>
            <a:ext cx="403986" cy="454018"/>
          </a:xfrm>
          <a:prstGeom prst="ellipse">
            <a:avLst/>
          </a:prstGeom>
          <a:solidFill>
            <a:srgbClr val="F2EEEE"/>
          </a:solidFill>
          <a:ln/>
        </p:spPr>
        <p:txBody>
          <a:bodyPr/>
          <a:lstStyle/>
          <a:p>
            <a:endParaRPr lang="en-IN" dirty="0"/>
          </a:p>
        </p:txBody>
      </p:sp>
      <p:sp>
        <p:nvSpPr>
          <p:cNvPr id="349" name="Shape 27">
            <a:extLst>
              <a:ext uri="{FF2B5EF4-FFF2-40B4-BE49-F238E27FC236}">
                <a16:creationId xmlns:a16="http://schemas.microsoft.com/office/drawing/2014/main" id="{41C71871-75B8-28B7-0D59-63B6C74A5202}"/>
              </a:ext>
            </a:extLst>
          </p:cNvPr>
          <p:cNvSpPr/>
          <p:nvPr/>
        </p:nvSpPr>
        <p:spPr>
          <a:xfrm>
            <a:off x="9283510" y="4883880"/>
            <a:ext cx="403986" cy="454018"/>
          </a:xfrm>
          <a:prstGeom prst="ellipse">
            <a:avLst/>
          </a:prstGeom>
          <a:solidFill>
            <a:srgbClr val="F2EEEE"/>
          </a:solidFill>
          <a:ln/>
        </p:spPr>
      </p:sp>
      <p:sp>
        <p:nvSpPr>
          <p:cNvPr id="351" name="TextBox 350">
            <a:extLst>
              <a:ext uri="{FF2B5EF4-FFF2-40B4-BE49-F238E27FC236}">
                <a16:creationId xmlns:a16="http://schemas.microsoft.com/office/drawing/2014/main" id="{52677572-E679-18B9-72C5-27CD4F564C06}"/>
              </a:ext>
            </a:extLst>
          </p:cNvPr>
          <p:cNvSpPr txBox="1"/>
          <p:nvPr/>
        </p:nvSpPr>
        <p:spPr>
          <a:xfrm>
            <a:off x="3945543" y="5421329"/>
            <a:ext cx="1754380" cy="229935"/>
          </a:xfrm>
          <a:prstGeom prst="rect">
            <a:avLst/>
          </a:prstGeom>
          <a:noFill/>
        </p:spPr>
        <p:txBody>
          <a:bodyPr wrap="square">
            <a:spAutoFit/>
          </a:bodyPr>
          <a:lstStyle/>
          <a:p>
            <a:pPr marL="0" indent="0" algn="l">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Control &amp; Refinement</a:t>
            </a:r>
            <a:endParaRPr lang="en-US" sz="900" dirty="0"/>
          </a:p>
        </p:txBody>
      </p:sp>
      <p:sp>
        <p:nvSpPr>
          <p:cNvPr id="353" name="TextBox 352">
            <a:extLst>
              <a:ext uri="{FF2B5EF4-FFF2-40B4-BE49-F238E27FC236}">
                <a16:creationId xmlns:a16="http://schemas.microsoft.com/office/drawing/2014/main" id="{5B3AF0C9-4A90-AC0C-D246-C809F96B8657}"/>
              </a:ext>
            </a:extLst>
          </p:cNvPr>
          <p:cNvSpPr txBox="1"/>
          <p:nvPr/>
        </p:nvSpPr>
        <p:spPr>
          <a:xfrm>
            <a:off x="3918964" y="5589185"/>
            <a:ext cx="2732546" cy="347018"/>
          </a:xfrm>
          <a:prstGeom prst="rect">
            <a:avLst/>
          </a:prstGeom>
          <a:noFill/>
        </p:spPr>
        <p:txBody>
          <a:bodyPr wrap="square">
            <a:spAutoFit/>
          </a:bodyPr>
          <a:lstStyle/>
          <a:p>
            <a:pPr marL="0" indent="0" algn="l">
              <a:lnSpc>
                <a:spcPct val="106000"/>
              </a:lnSpc>
              <a:buNone/>
            </a:pPr>
            <a:r>
              <a:rPr lang="en-US" sz="800" dirty="0">
                <a:solidFill>
                  <a:srgbClr val="464646"/>
                </a:solidFill>
                <a:latin typeface="Inter Medium" pitchFamily="34" charset="0"/>
                <a:ea typeface="Inter Medium" pitchFamily="34" charset="-122"/>
                <a:cs typeface="Inter Medium" pitchFamily="34" charset="-120"/>
              </a:rPr>
              <a:t>The controller decides when to wait, suppress, or retrieve, then refines the query.</a:t>
            </a:r>
            <a:endParaRPr lang="en-US" sz="800" dirty="0"/>
          </a:p>
        </p:txBody>
      </p:sp>
      <p:sp>
        <p:nvSpPr>
          <p:cNvPr id="356" name="TextBox 355">
            <a:extLst>
              <a:ext uri="{FF2B5EF4-FFF2-40B4-BE49-F238E27FC236}">
                <a16:creationId xmlns:a16="http://schemas.microsoft.com/office/drawing/2014/main" id="{6CA5A64A-26B6-52A0-9B95-D11CEFFF318C}"/>
              </a:ext>
            </a:extLst>
          </p:cNvPr>
          <p:cNvSpPr txBox="1"/>
          <p:nvPr/>
        </p:nvSpPr>
        <p:spPr>
          <a:xfrm>
            <a:off x="9485503" y="5374185"/>
            <a:ext cx="1562324" cy="199414"/>
          </a:xfrm>
          <a:prstGeom prst="rect">
            <a:avLst/>
          </a:prstGeom>
          <a:noFill/>
        </p:spPr>
        <p:txBody>
          <a:bodyPr wrap="square">
            <a:spAutoFit/>
          </a:bodyPr>
          <a:lstStyle/>
          <a:p>
            <a:pPr marL="0" indent="0" algn="l">
              <a:lnSpc>
                <a:spcPct val="104000"/>
              </a:lnSpc>
              <a:buNone/>
            </a:pPr>
            <a:r>
              <a:rPr lang="en-US" sz="700" dirty="0">
                <a:solidFill>
                  <a:srgbClr val="464646"/>
                </a:solidFill>
                <a:latin typeface="DM Sans SemiBold" pitchFamily="34" charset="0"/>
                <a:ea typeface="DM Sans SemiBold" pitchFamily="34" charset="-122"/>
                <a:cs typeface="DM Sans SemiBold" pitchFamily="34" charset="-120"/>
              </a:rPr>
              <a:t>Output</a:t>
            </a:r>
            <a:endParaRPr lang="en-US" sz="700" dirty="0"/>
          </a:p>
        </p:txBody>
      </p:sp>
      <p:sp>
        <p:nvSpPr>
          <p:cNvPr id="358" name="TextBox 357">
            <a:extLst>
              <a:ext uri="{FF2B5EF4-FFF2-40B4-BE49-F238E27FC236}">
                <a16:creationId xmlns:a16="http://schemas.microsoft.com/office/drawing/2014/main" id="{D1871AC5-6E91-4F13-55A0-FDD2F336815A}"/>
              </a:ext>
            </a:extLst>
          </p:cNvPr>
          <p:cNvSpPr txBox="1"/>
          <p:nvPr/>
        </p:nvSpPr>
        <p:spPr>
          <a:xfrm>
            <a:off x="9485503" y="5549808"/>
            <a:ext cx="2010140" cy="315214"/>
          </a:xfrm>
          <a:prstGeom prst="rect">
            <a:avLst/>
          </a:prstGeom>
          <a:noFill/>
        </p:spPr>
        <p:txBody>
          <a:bodyPr wrap="square">
            <a:spAutoFit/>
          </a:bodyPr>
          <a:lstStyle/>
          <a:p>
            <a:pPr marL="0" indent="0" algn="l">
              <a:lnSpc>
                <a:spcPct val="106000"/>
              </a:lnSpc>
              <a:buNone/>
            </a:pPr>
            <a:r>
              <a:rPr lang="en-US" sz="700" dirty="0">
                <a:solidFill>
                  <a:srgbClr val="464646"/>
                </a:solidFill>
                <a:latin typeface="Inter Medium" pitchFamily="34" charset="0"/>
                <a:ea typeface="Inter Medium" pitchFamily="34" charset="-122"/>
                <a:cs typeface="Inter Medium" pitchFamily="34" charset="-120"/>
              </a:rPr>
              <a:t>Only grounded evidence is passed forward to generate the final answer.</a:t>
            </a:r>
            <a:endParaRPr lang="en-US" sz="700" dirty="0"/>
          </a:p>
        </p:txBody>
      </p:sp>
      <p:sp>
        <p:nvSpPr>
          <p:cNvPr id="360" name="TextBox 359">
            <a:extLst>
              <a:ext uri="{FF2B5EF4-FFF2-40B4-BE49-F238E27FC236}">
                <a16:creationId xmlns:a16="http://schemas.microsoft.com/office/drawing/2014/main" id="{21A8C315-F0FD-622C-A87E-D7B2549BE6A4}"/>
              </a:ext>
            </a:extLst>
          </p:cNvPr>
          <p:cNvSpPr txBox="1"/>
          <p:nvPr/>
        </p:nvSpPr>
        <p:spPr>
          <a:xfrm>
            <a:off x="6370013" y="5872131"/>
            <a:ext cx="6097190" cy="199414"/>
          </a:xfrm>
          <a:prstGeom prst="rect">
            <a:avLst/>
          </a:prstGeom>
          <a:noFill/>
        </p:spPr>
        <p:txBody>
          <a:bodyPr wrap="square">
            <a:spAutoFit/>
          </a:bodyPr>
          <a:lstStyle/>
          <a:p>
            <a:pPr marL="0" indent="0" algn="l">
              <a:lnSpc>
                <a:spcPct val="104000"/>
              </a:lnSpc>
              <a:buNone/>
            </a:pPr>
            <a:r>
              <a:rPr lang="en-US" sz="700" dirty="0">
                <a:solidFill>
                  <a:srgbClr val="464646"/>
                </a:solidFill>
                <a:latin typeface="DM Sans SemiBold" pitchFamily="34" charset="0"/>
                <a:ea typeface="DM Sans SemiBold" pitchFamily="34" charset="-122"/>
                <a:cs typeface="DM Sans SemiBold" pitchFamily="34" charset="-120"/>
              </a:rPr>
              <a:t>Intent Isolation</a:t>
            </a:r>
            <a:endParaRPr lang="en-US" sz="700" dirty="0"/>
          </a:p>
        </p:txBody>
      </p:sp>
      <p:pic>
        <p:nvPicPr>
          <p:cNvPr id="362" name="Image 3" descr="preencoded.png">
            <a:extLst>
              <a:ext uri="{FF2B5EF4-FFF2-40B4-BE49-F238E27FC236}">
                <a16:creationId xmlns:a16="http://schemas.microsoft.com/office/drawing/2014/main" id="{2F72F0AC-B27C-A9D3-27BD-67FFC0D2DD2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51510" y="5033310"/>
            <a:ext cx="190223" cy="190223"/>
          </a:xfrm>
          <a:prstGeom prst="rect">
            <a:avLst/>
          </a:prstGeom>
        </p:spPr>
      </p:pic>
      <p:pic>
        <p:nvPicPr>
          <p:cNvPr id="364" name="Image 2" descr="preencoded.png">
            <a:extLst>
              <a:ext uri="{FF2B5EF4-FFF2-40B4-BE49-F238E27FC236}">
                <a16:creationId xmlns:a16="http://schemas.microsoft.com/office/drawing/2014/main" id="{AC7880C2-71B1-AE67-9947-8FB986B70FB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34312" y="5049859"/>
            <a:ext cx="219691" cy="219691"/>
          </a:xfrm>
          <a:prstGeom prst="rect">
            <a:avLst/>
          </a:prstGeom>
        </p:spPr>
      </p:pic>
      <p:pic>
        <p:nvPicPr>
          <p:cNvPr id="366" name="Image 4" descr="preencoded.png">
            <a:extLst>
              <a:ext uri="{FF2B5EF4-FFF2-40B4-BE49-F238E27FC236}">
                <a16:creationId xmlns:a16="http://schemas.microsoft.com/office/drawing/2014/main" id="{DCC77BD3-8BC7-91DC-1A5D-B59EFFB116A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63744" y="4971541"/>
            <a:ext cx="261925" cy="261925"/>
          </a:xfrm>
          <a:prstGeom prst="rect">
            <a:avLst/>
          </a:prstGeom>
        </p:spPr>
      </p:pic>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825625"/>
            <a:ext cx="2983706" cy="3169708"/>
          </a:xfrm>
        </p:spPr>
        <p:txBody>
          <a:bodyPr>
            <a:normAutofit fontScale="92500" lnSpcReduction="10000"/>
          </a:bodyPr>
          <a:lstStyle/>
          <a:p>
            <a:pPr marL="0" indent="0">
              <a:buNone/>
            </a:pPr>
            <a:r>
              <a:rPr lang="en-IN" sz="2200" b="1" dirty="0"/>
              <a:t>Judge Mode</a:t>
            </a:r>
          </a:p>
          <a:p>
            <a:pPr marL="0" indent="0">
              <a:buNone/>
            </a:pPr>
            <a:r>
              <a:rPr lang="en-IN" sz="1700" dirty="0"/>
              <a:t>Shows the internal RAG pipeline:</a:t>
            </a:r>
          </a:p>
          <a:p>
            <a:pPr marL="0" indent="0">
              <a:buNone/>
            </a:pPr>
            <a:endParaRPr lang="en-IN" sz="2100" dirty="0"/>
          </a:p>
          <a:p>
            <a:pPr lvl="1"/>
            <a:r>
              <a:rPr lang="en-IN" sz="1700" dirty="0"/>
              <a:t>Live transcript evolution </a:t>
            </a:r>
          </a:p>
          <a:p>
            <a:pPr lvl="1"/>
            <a:r>
              <a:rPr lang="en-IN" sz="1700" dirty="0"/>
              <a:t>Controller decision </a:t>
            </a:r>
          </a:p>
          <a:p>
            <a:pPr lvl="1"/>
            <a:r>
              <a:rPr lang="en-IN" sz="1700" dirty="0"/>
              <a:t>Early retrieval </a:t>
            </a:r>
          </a:p>
          <a:p>
            <a:pPr lvl="1"/>
            <a:r>
              <a:rPr lang="en-IN" sz="1700" dirty="0"/>
              <a:t>Retrieval reuse </a:t>
            </a:r>
          </a:p>
          <a:p>
            <a:pPr lvl="1"/>
            <a:r>
              <a:rPr lang="en-IN" sz="1700" dirty="0"/>
              <a:t>Query refinement </a:t>
            </a:r>
          </a:p>
          <a:p>
            <a:pPr lvl="1"/>
            <a:r>
              <a:rPr lang="en-IN" sz="1700" dirty="0"/>
              <a:t>Evidence selection </a:t>
            </a:r>
          </a:p>
          <a:p>
            <a:pPr lvl="1"/>
            <a:r>
              <a:rPr lang="en-IN" sz="1700" dirty="0"/>
              <a:t>Grounded answer </a:t>
            </a:r>
          </a:p>
          <a:p>
            <a:pPr lvl="1"/>
            <a:r>
              <a:rPr lang="en-IN" sz="1700" dirty="0"/>
              <a:t>Citation validation </a:t>
            </a:r>
          </a:p>
          <a:p>
            <a:pPr marL="0" indent="0">
              <a:buNone/>
            </a:pPr>
            <a:endParaRPr lang="en-IN" dirty="0"/>
          </a:p>
        </p:txBody>
      </p:sp>
      <p:sp>
        <p:nvSpPr>
          <p:cNvPr id="4" name="TextBox 3">
            <a:extLst>
              <a:ext uri="{FF2B5EF4-FFF2-40B4-BE49-F238E27FC236}">
                <a16:creationId xmlns:a16="http://schemas.microsoft.com/office/drawing/2014/main" id="{93B7808A-999B-D720-0999-AD1DC764E529}"/>
              </a:ext>
            </a:extLst>
          </p:cNvPr>
          <p:cNvSpPr txBox="1"/>
          <p:nvPr/>
        </p:nvSpPr>
        <p:spPr>
          <a:xfrm>
            <a:off x="5799669" y="1825625"/>
            <a:ext cx="4233331" cy="3447098"/>
          </a:xfrm>
          <a:prstGeom prst="rect">
            <a:avLst/>
          </a:prstGeom>
          <a:noFill/>
        </p:spPr>
        <p:txBody>
          <a:bodyPr wrap="square" rtlCol="0">
            <a:spAutoFit/>
          </a:bodyPr>
          <a:lstStyle/>
          <a:p>
            <a:r>
              <a:rPr lang="en-IN" sz="2000" b="1" dirty="0"/>
              <a:t>Conference Mode</a:t>
            </a:r>
          </a:p>
          <a:p>
            <a:r>
              <a:rPr lang="en-IN" sz="1600" dirty="0"/>
              <a:t>Designed for natural live interaction:</a:t>
            </a:r>
          </a:p>
          <a:p>
            <a:endParaRPr lang="en-IN" sz="1600" dirty="0"/>
          </a:p>
          <a:p>
            <a:pPr marL="742950" lvl="1" indent="-285750">
              <a:buFont typeface="Arial" panose="020B0604020202020204" pitchFamily="34" charset="0"/>
              <a:buChar char="•"/>
            </a:pPr>
            <a:r>
              <a:rPr lang="en-IN" sz="1600" dirty="0"/>
              <a:t>Push-to-talk microphone </a:t>
            </a:r>
          </a:p>
          <a:p>
            <a:pPr marL="742950" lvl="1" indent="-285750">
              <a:buFont typeface="Arial" panose="020B0604020202020204" pitchFamily="34" charset="0"/>
              <a:buChar char="•"/>
            </a:pPr>
            <a:r>
              <a:rPr lang="en-IN" sz="1600" dirty="0"/>
              <a:t>Partial transcript while speaking </a:t>
            </a:r>
          </a:p>
          <a:p>
            <a:pPr marL="742950" lvl="1" indent="-285750">
              <a:buFont typeface="Arial" panose="020B0604020202020204" pitchFamily="34" charset="0"/>
              <a:buChar char="•"/>
            </a:pPr>
            <a:r>
              <a:rPr lang="en-IN" sz="1600" dirty="0"/>
              <a:t>Retrieval begins before speech ends </a:t>
            </a:r>
          </a:p>
          <a:p>
            <a:pPr marL="742950" lvl="1" indent="-285750">
              <a:buFont typeface="Arial" panose="020B0604020202020204" pitchFamily="34" charset="0"/>
              <a:buChar char="•"/>
            </a:pPr>
            <a:r>
              <a:rPr lang="en-IN" sz="1600" dirty="0"/>
              <a:t>Continue speaking/refine the query </a:t>
            </a:r>
          </a:p>
          <a:p>
            <a:pPr marL="742950" lvl="1" indent="-285750">
              <a:buFont typeface="Arial" panose="020B0604020202020204" pitchFamily="34" charset="0"/>
              <a:buChar char="•"/>
            </a:pPr>
            <a:r>
              <a:rPr lang="en-IN" sz="1600" dirty="0"/>
              <a:t>Release microphone → automatic query commit </a:t>
            </a:r>
          </a:p>
          <a:p>
            <a:pPr marL="742950" lvl="1" indent="-285750">
              <a:buFont typeface="Arial" panose="020B0604020202020204" pitchFamily="34" charset="0"/>
              <a:buChar char="•"/>
            </a:pPr>
            <a:r>
              <a:rPr lang="en-IN" sz="1600" dirty="0"/>
              <a:t>Grounded answer generated from validated evidence </a:t>
            </a:r>
          </a:p>
          <a:p>
            <a:pPr marL="742950" lvl="1" indent="-285750">
              <a:buFont typeface="Arial" panose="020B0604020202020204" pitchFamily="34" charset="0"/>
              <a:buChar char="•"/>
            </a:pPr>
            <a:r>
              <a:rPr lang="en-IN" sz="1600" dirty="0"/>
              <a:t>Reset clears the active session </a:t>
            </a:r>
          </a:p>
          <a:p>
            <a:endParaRPr lang="en-IN" dirty="0"/>
          </a:p>
        </p:txBody>
      </p:sp>
      <p:sp>
        <p:nvSpPr>
          <p:cNvPr id="5" name="TextBox 4">
            <a:extLst>
              <a:ext uri="{FF2B5EF4-FFF2-40B4-BE49-F238E27FC236}">
                <a16:creationId xmlns:a16="http://schemas.microsoft.com/office/drawing/2014/main" id="{4DED292B-4F6D-7F0C-4032-62285296CCDD}"/>
              </a:ext>
            </a:extLst>
          </p:cNvPr>
          <p:cNvSpPr txBox="1"/>
          <p:nvPr/>
        </p:nvSpPr>
        <p:spPr>
          <a:xfrm>
            <a:off x="922867" y="5283200"/>
            <a:ext cx="10930466" cy="892552"/>
          </a:xfrm>
          <a:prstGeom prst="rect">
            <a:avLst/>
          </a:prstGeom>
          <a:noFill/>
        </p:spPr>
        <p:txBody>
          <a:bodyPr wrap="square" rtlCol="0">
            <a:spAutoFit/>
          </a:bodyPr>
          <a:lstStyle/>
          <a:p>
            <a:r>
              <a:rPr lang="en-IN" b="1" dirty="0"/>
              <a:t>Demo Flow</a:t>
            </a:r>
          </a:p>
          <a:p>
            <a:r>
              <a:rPr lang="en-IN" sz="1600" dirty="0"/>
              <a:t>Speak → Early Retrieval → Refine → Release → Commit → Reuse/Delta Retrieval → Grounded Answer → Validated Citation</a:t>
            </a:r>
          </a:p>
          <a:p>
            <a:endParaRPr lang="en-IN" dirty="0"/>
          </a:p>
        </p:txBody>
      </p:sp>
      <p:pic>
        <p:nvPicPr>
          <p:cNvPr id="7" name="Image 0" descr="preencoded.png">
            <a:extLst>
              <a:ext uri="{FF2B5EF4-FFF2-40B4-BE49-F238E27FC236}">
                <a16:creationId xmlns:a16="http://schemas.microsoft.com/office/drawing/2014/main" id="{30759AE6-EB68-7CA4-2235-AE4EC5FD6F42}"/>
              </a:ext>
            </a:extLst>
          </p:cNvPr>
          <p:cNvPicPr>
            <a:picLocks noChangeAspect="1"/>
          </p:cNvPicPr>
          <p:nvPr/>
        </p:nvPicPr>
        <p:blipFill>
          <a:blip r:embed="rId2"/>
          <a:stretch>
            <a:fillRect/>
          </a:stretch>
        </p:blipFill>
        <p:spPr>
          <a:xfrm>
            <a:off x="3608521" y="2148597"/>
            <a:ext cx="2404534" cy="2801154"/>
          </a:xfrm>
          <a:prstGeom prst="rect">
            <a:avLst/>
          </a:prstGeom>
        </p:spPr>
      </p:pic>
      <p:pic>
        <p:nvPicPr>
          <p:cNvPr id="10" name="Image 1" descr="preencoded.png">
            <a:extLst>
              <a:ext uri="{FF2B5EF4-FFF2-40B4-BE49-F238E27FC236}">
                <a16:creationId xmlns:a16="http://schemas.microsoft.com/office/drawing/2014/main" id="{7B3A6D88-FEAC-C2D4-2C4E-B8924B07FF6F}"/>
              </a:ext>
            </a:extLst>
          </p:cNvPr>
          <p:cNvPicPr>
            <a:picLocks noChangeAspect="1"/>
          </p:cNvPicPr>
          <p:nvPr/>
        </p:nvPicPr>
        <p:blipFill>
          <a:blip r:embed="rId3"/>
          <a:stretch>
            <a:fillRect/>
          </a:stretch>
        </p:blipFill>
        <p:spPr>
          <a:xfrm>
            <a:off x="9719732" y="2148597"/>
            <a:ext cx="2472268" cy="2801154"/>
          </a:xfrm>
          <a:prstGeom prst="rect">
            <a:avLst/>
          </a:prstGeom>
        </p:spPr>
      </p:pic>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620130" y="305072"/>
            <a:ext cx="10515600" cy="1325563"/>
          </a:xfrm>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11042374" y="6630436"/>
            <a:ext cx="1186069" cy="105072"/>
          </a:xfrm>
        </p:spPr>
        <p:txBody>
          <a:bodyPr>
            <a:normAutofit fontScale="25000" lnSpcReduction="20000"/>
          </a:bodyPr>
          <a:lstStyle/>
          <a:p>
            <a:pPr marL="0" indent="0">
              <a:buNone/>
            </a:pPr>
            <a:endParaRPr lang="en-IN" dirty="0"/>
          </a:p>
        </p:txBody>
      </p:sp>
      <p:pic>
        <p:nvPicPr>
          <p:cNvPr id="75" name="Image 0" descr="preencoded.png">
            <a:extLst>
              <a:ext uri="{FF2B5EF4-FFF2-40B4-BE49-F238E27FC236}">
                <a16:creationId xmlns:a16="http://schemas.microsoft.com/office/drawing/2014/main" id="{B88D559A-A361-772C-BA6D-243903EBC50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2314" y="1620789"/>
            <a:ext cx="423133" cy="381818"/>
          </a:xfrm>
          <a:prstGeom prst="rect">
            <a:avLst/>
          </a:prstGeom>
        </p:spPr>
      </p:pic>
      <p:sp>
        <p:nvSpPr>
          <p:cNvPr id="77" name="Text 1">
            <a:extLst>
              <a:ext uri="{FF2B5EF4-FFF2-40B4-BE49-F238E27FC236}">
                <a16:creationId xmlns:a16="http://schemas.microsoft.com/office/drawing/2014/main" id="{CFB049F1-AE1B-ED83-737C-950186751F4B}"/>
              </a:ext>
            </a:extLst>
          </p:cNvPr>
          <p:cNvSpPr/>
          <p:nvPr/>
        </p:nvSpPr>
        <p:spPr>
          <a:xfrm>
            <a:off x="1042314" y="2053680"/>
            <a:ext cx="2896703" cy="193849"/>
          </a:xfrm>
          <a:prstGeom prst="rect">
            <a:avLst/>
          </a:prstGeom>
          <a:noFill/>
          <a:ln/>
        </p:spPr>
        <p:txBody>
          <a:bodyPr wrap="none" lIns="0" tIns="0" rIns="0" bIns="0" rtlCol="0" anchor="t"/>
          <a:lstStyle/>
          <a:p>
            <a:pPr marL="0" indent="0" algn="l">
              <a:lnSpc>
                <a:spcPct val="104000"/>
              </a:lnSpc>
              <a:buNone/>
            </a:pPr>
            <a:r>
              <a:rPr lang="en-US" sz="2000" dirty="0">
                <a:solidFill>
                  <a:srgbClr val="464646"/>
                </a:solidFill>
                <a:latin typeface="DM Sans SemiBold" pitchFamily="34" charset="0"/>
                <a:ea typeface="DM Sans SemiBold" pitchFamily="34" charset="-122"/>
                <a:cs typeface="DM Sans SemiBold" pitchFamily="34" charset="-120"/>
              </a:rPr>
              <a:t>Backend</a:t>
            </a:r>
            <a:endParaRPr lang="en-US" sz="2000" dirty="0"/>
          </a:p>
        </p:txBody>
      </p:sp>
      <p:sp>
        <p:nvSpPr>
          <p:cNvPr id="79" name="Text 2">
            <a:extLst>
              <a:ext uri="{FF2B5EF4-FFF2-40B4-BE49-F238E27FC236}">
                <a16:creationId xmlns:a16="http://schemas.microsoft.com/office/drawing/2014/main" id="{75B7BDC2-482A-E6C7-51EF-B20EB34D1919}"/>
              </a:ext>
            </a:extLst>
          </p:cNvPr>
          <p:cNvSpPr/>
          <p:nvPr/>
        </p:nvSpPr>
        <p:spPr>
          <a:xfrm>
            <a:off x="1178044" y="2382515"/>
            <a:ext cx="2896703" cy="923999"/>
          </a:xfrm>
          <a:prstGeom prst="rect">
            <a:avLst/>
          </a:prstGeom>
          <a:noFill/>
          <a:ln/>
        </p:spPr>
        <p:txBody>
          <a:bodyPr wrap="square" lIns="0" tIns="0" rIns="0" bIns="0" rtlCol="0" anchor="t">
            <a:noAutofit/>
          </a:bodyPr>
          <a:lstStyle/>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Python</a:t>
            </a:r>
            <a:endParaRPr lang="en-US" sz="1200" dirty="0"/>
          </a:p>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FastAPI</a:t>
            </a:r>
            <a:endParaRPr lang="en-US" sz="1200" dirty="0"/>
          </a:p>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WebSocket</a:t>
            </a:r>
            <a:endParaRPr lang="en-US" sz="1200" dirty="0"/>
          </a:p>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Session State Management</a:t>
            </a:r>
            <a:endParaRPr lang="en-US" sz="1200" dirty="0"/>
          </a:p>
        </p:txBody>
      </p:sp>
      <p:pic>
        <p:nvPicPr>
          <p:cNvPr id="81" name="Image 1" descr="preencoded.png">
            <a:extLst>
              <a:ext uri="{FF2B5EF4-FFF2-40B4-BE49-F238E27FC236}">
                <a16:creationId xmlns:a16="http://schemas.microsoft.com/office/drawing/2014/main" id="{3A9CEC15-8B38-EDC9-6FB1-21740625EE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03773" y="1514140"/>
            <a:ext cx="423133" cy="381818"/>
          </a:xfrm>
          <a:prstGeom prst="rect">
            <a:avLst/>
          </a:prstGeom>
        </p:spPr>
      </p:pic>
      <p:sp>
        <p:nvSpPr>
          <p:cNvPr id="83" name="Text 3">
            <a:extLst>
              <a:ext uri="{FF2B5EF4-FFF2-40B4-BE49-F238E27FC236}">
                <a16:creationId xmlns:a16="http://schemas.microsoft.com/office/drawing/2014/main" id="{F0D00F54-3FD5-6870-A180-0C1276CFBD61}"/>
              </a:ext>
            </a:extLst>
          </p:cNvPr>
          <p:cNvSpPr/>
          <p:nvPr/>
        </p:nvSpPr>
        <p:spPr>
          <a:xfrm>
            <a:off x="4994147" y="1920403"/>
            <a:ext cx="2896786" cy="193849"/>
          </a:xfrm>
          <a:prstGeom prst="rect">
            <a:avLst/>
          </a:prstGeom>
          <a:noFill/>
          <a:ln/>
        </p:spPr>
        <p:txBody>
          <a:bodyPr wrap="none" lIns="0" tIns="0" rIns="0" bIns="0" rtlCol="0" anchor="t"/>
          <a:lstStyle/>
          <a:p>
            <a:pPr marL="0" indent="0" algn="l">
              <a:lnSpc>
                <a:spcPct val="104000"/>
              </a:lnSpc>
              <a:buNone/>
            </a:pPr>
            <a:r>
              <a:rPr lang="en-US" sz="2000" dirty="0">
                <a:solidFill>
                  <a:srgbClr val="464646"/>
                </a:solidFill>
                <a:latin typeface="DM Sans SemiBold" pitchFamily="34" charset="0"/>
                <a:ea typeface="DM Sans SemiBold" pitchFamily="34" charset="-122"/>
                <a:cs typeface="DM Sans SemiBold" pitchFamily="34" charset="-120"/>
              </a:rPr>
              <a:t>Retrieval</a:t>
            </a:r>
            <a:endParaRPr lang="en-US" sz="2000" dirty="0"/>
          </a:p>
        </p:txBody>
      </p:sp>
      <p:sp>
        <p:nvSpPr>
          <p:cNvPr id="85" name="Text 4">
            <a:extLst>
              <a:ext uri="{FF2B5EF4-FFF2-40B4-BE49-F238E27FC236}">
                <a16:creationId xmlns:a16="http://schemas.microsoft.com/office/drawing/2014/main" id="{DE4FD3ED-6E25-3DBB-15CE-61E4F487150D}"/>
              </a:ext>
            </a:extLst>
          </p:cNvPr>
          <p:cNvSpPr/>
          <p:nvPr/>
        </p:nvSpPr>
        <p:spPr>
          <a:xfrm>
            <a:off x="4994147" y="2188666"/>
            <a:ext cx="2896786" cy="1165845"/>
          </a:xfrm>
          <a:prstGeom prst="rect">
            <a:avLst/>
          </a:prstGeom>
          <a:noFill/>
          <a:ln/>
        </p:spPr>
        <p:txBody>
          <a:bodyPr wrap="square" lIns="0" tIns="0" rIns="0" bIns="0" rtlCol="0" anchor="t">
            <a:noAutofit/>
          </a:bodyPr>
          <a:lstStyle/>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BM25</a:t>
            </a:r>
            <a:endParaRPr lang="en-US" sz="1200" dirty="0"/>
          </a:p>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Sentence Transformers</a:t>
            </a:r>
            <a:endParaRPr lang="en-US" sz="1200" dirty="0"/>
          </a:p>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FAISS</a:t>
            </a:r>
            <a:endParaRPr lang="en-US" sz="1200" dirty="0"/>
          </a:p>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Reciprocal Rank Fusion</a:t>
            </a:r>
            <a:endParaRPr lang="en-US" sz="1200" dirty="0"/>
          </a:p>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CrossEncoder</a:t>
            </a:r>
            <a:endParaRPr lang="en-US" sz="1200" dirty="0"/>
          </a:p>
        </p:txBody>
      </p:sp>
      <p:pic>
        <p:nvPicPr>
          <p:cNvPr id="87" name="Image 2" descr="preencoded.png">
            <a:extLst>
              <a:ext uri="{FF2B5EF4-FFF2-40B4-BE49-F238E27FC236}">
                <a16:creationId xmlns:a16="http://schemas.microsoft.com/office/drawing/2014/main" id="{1FCBC6F5-C6C7-F701-53E9-C9C6B9FDED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3414" y="1473753"/>
            <a:ext cx="423133" cy="381818"/>
          </a:xfrm>
          <a:prstGeom prst="rect">
            <a:avLst/>
          </a:prstGeom>
        </p:spPr>
      </p:pic>
      <p:sp>
        <p:nvSpPr>
          <p:cNvPr id="89" name="Text 5">
            <a:extLst>
              <a:ext uri="{FF2B5EF4-FFF2-40B4-BE49-F238E27FC236}">
                <a16:creationId xmlns:a16="http://schemas.microsoft.com/office/drawing/2014/main" id="{D28853A0-9096-DD9E-99C2-2ED9505F5F53}"/>
              </a:ext>
            </a:extLst>
          </p:cNvPr>
          <p:cNvSpPr/>
          <p:nvPr/>
        </p:nvSpPr>
        <p:spPr>
          <a:xfrm>
            <a:off x="8428431" y="1862323"/>
            <a:ext cx="2613943" cy="268263"/>
          </a:xfrm>
          <a:prstGeom prst="rect">
            <a:avLst/>
          </a:prstGeom>
          <a:noFill/>
          <a:ln/>
        </p:spPr>
        <p:txBody>
          <a:bodyPr wrap="none" lIns="0" tIns="0" rIns="0" bIns="0" rtlCol="0" anchor="t"/>
          <a:lstStyle/>
          <a:p>
            <a:pPr marL="0" indent="0" algn="l">
              <a:lnSpc>
                <a:spcPct val="104000"/>
              </a:lnSpc>
              <a:buNone/>
            </a:pPr>
            <a:r>
              <a:rPr lang="en-US" sz="2000" dirty="0">
                <a:solidFill>
                  <a:srgbClr val="464646"/>
                </a:solidFill>
                <a:latin typeface="DM Sans SemiBold" pitchFamily="34" charset="0"/>
                <a:ea typeface="DM Sans SemiBold" pitchFamily="34" charset="-122"/>
                <a:cs typeface="DM Sans SemiBold" pitchFamily="34" charset="-120"/>
              </a:rPr>
              <a:t>Generation</a:t>
            </a:r>
            <a:endParaRPr lang="en-US" sz="2000" dirty="0"/>
          </a:p>
        </p:txBody>
      </p:sp>
      <p:sp>
        <p:nvSpPr>
          <p:cNvPr id="91" name="Text 6">
            <a:extLst>
              <a:ext uri="{FF2B5EF4-FFF2-40B4-BE49-F238E27FC236}">
                <a16:creationId xmlns:a16="http://schemas.microsoft.com/office/drawing/2014/main" id="{49B1DF56-5788-F845-29E9-28D0B9A3F309}"/>
              </a:ext>
            </a:extLst>
          </p:cNvPr>
          <p:cNvSpPr/>
          <p:nvPr/>
        </p:nvSpPr>
        <p:spPr>
          <a:xfrm>
            <a:off x="8428431" y="2130585"/>
            <a:ext cx="2613943" cy="1002081"/>
          </a:xfrm>
          <a:prstGeom prst="rect">
            <a:avLst/>
          </a:prstGeom>
          <a:noFill/>
          <a:ln/>
        </p:spPr>
        <p:txBody>
          <a:bodyPr wrap="square" lIns="0" tIns="0" rIns="0" bIns="0" rtlCol="0" anchor="t">
            <a:normAutofit/>
          </a:bodyPr>
          <a:lstStyle/>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Ollama</a:t>
            </a:r>
            <a:endParaRPr lang="en-US" sz="1200" dirty="0"/>
          </a:p>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llama3.2:3b</a:t>
            </a:r>
            <a:endParaRPr lang="en-US" sz="1200" dirty="0"/>
          </a:p>
          <a:p>
            <a:pPr marL="193040" indent="-193040" algn="l">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Grounded Generation</a:t>
            </a:r>
            <a:endParaRPr lang="en-US" sz="1200" dirty="0"/>
          </a:p>
        </p:txBody>
      </p:sp>
      <p:pic>
        <p:nvPicPr>
          <p:cNvPr id="93" name="Image 3" descr="preencoded.png">
            <a:extLst>
              <a:ext uri="{FF2B5EF4-FFF2-40B4-BE49-F238E27FC236}">
                <a16:creationId xmlns:a16="http://schemas.microsoft.com/office/drawing/2014/main" id="{8F2A43E6-3A44-2B35-0BD5-8F742C6FC23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5030" y="4058394"/>
            <a:ext cx="379718" cy="342642"/>
          </a:xfrm>
          <a:prstGeom prst="rect">
            <a:avLst/>
          </a:prstGeom>
        </p:spPr>
      </p:pic>
      <p:sp>
        <p:nvSpPr>
          <p:cNvPr id="95" name="Text 7">
            <a:extLst>
              <a:ext uri="{FF2B5EF4-FFF2-40B4-BE49-F238E27FC236}">
                <a16:creationId xmlns:a16="http://schemas.microsoft.com/office/drawing/2014/main" id="{CA37F5EC-FA7D-3E86-C7F1-8EB332A42067}"/>
              </a:ext>
            </a:extLst>
          </p:cNvPr>
          <p:cNvSpPr/>
          <p:nvPr/>
        </p:nvSpPr>
        <p:spPr>
          <a:xfrm>
            <a:off x="1092009" y="4488354"/>
            <a:ext cx="2896703" cy="193849"/>
          </a:xfrm>
          <a:prstGeom prst="rect">
            <a:avLst/>
          </a:prstGeom>
          <a:noFill/>
          <a:ln/>
        </p:spPr>
        <p:txBody>
          <a:bodyPr wrap="none" lIns="0" tIns="0" rIns="0" bIns="0" rtlCol="0" anchor="t"/>
          <a:lstStyle/>
          <a:p>
            <a:pPr marL="0" indent="0" algn="l">
              <a:lnSpc>
                <a:spcPct val="104000"/>
              </a:lnSpc>
              <a:buNone/>
            </a:pPr>
            <a:r>
              <a:rPr lang="en-US" sz="2000" dirty="0">
                <a:solidFill>
                  <a:srgbClr val="464646"/>
                </a:solidFill>
                <a:latin typeface="DM Sans SemiBold" pitchFamily="34" charset="0"/>
                <a:ea typeface="DM Sans SemiBold" pitchFamily="34" charset="-122"/>
                <a:cs typeface="DM Sans SemiBold" pitchFamily="34" charset="-120"/>
              </a:rPr>
              <a:t>Frontend</a:t>
            </a:r>
            <a:endParaRPr lang="en-US" sz="2000" dirty="0"/>
          </a:p>
        </p:txBody>
      </p:sp>
      <p:pic>
        <p:nvPicPr>
          <p:cNvPr id="97" name="Image 4" descr="preencoded.png">
            <a:extLst>
              <a:ext uri="{FF2B5EF4-FFF2-40B4-BE49-F238E27FC236}">
                <a16:creationId xmlns:a16="http://schemas.microsoft.com/office/drawing/2014/main" id="{322C3119-9991-FC34-8FA0-703AEF9E489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03774" y="4117902"/>
            <a:ext cx="379718" cy="342642"/>
          </a:xfrm>
          <a:prstGeom prst="rect">
            <a:avLst/>
          </a:prstGeom>
        </p:spPr>
      </p:pic>
      <p:sp>
        <p:nvSpPr>
          <p:cNvPr id="99" name="Text 9">
            <a:extLst>
              <a:ext uri="{FF2B5EF4-FFF2-40B4-BE49-F238E27FC236}">
                <a16:creationId xmlns:a16="http://schemas.microsoft.com/office/drawing/2014/main" id="{06BB891A-532C-AE57-D114-C18A1A57BB8E}"/>
              </a:ext>
            </a:extLst>
          </p:cNvPr>
          <p:cNvSpPr/>
          <p:nvPr/>
        </p:nvSpPr>
        <p:spPr>
          <a:xfrm>
            <a:off x="4994147" y="4520929"/>
            <a:ext cx="2896786" cy="193849"/>
          </a:xfrm>
          <a:prstGeom prst="rect">
            <a:avLst/>
          </a:prstGeom>
          <a:noFill/>
          <a:ln/>
        </p:spPr>
        <p:txBody>
          <a:bodyPr wrap="none" lIns="0" tIns="0" rIns="0" bIns="0" rtlCol="0" anchor="t"/>
          <a:lstStyle/>
          <a:p>
            <a:pPr marL="0" indent="0" algn="l">
              <a:lnSpc>
                <a:spcPct val="104000"/>
              </a:lnSpc>
              <a:buNone/>
            </a:pPr>
            <a:r>
              <a:rPr lang="en-US" sz="2000" dirty="0">
                <a:solidFill>
                  <a:srgbClr val="464646"/>
                </a:solidFill>
                <a:latin typeface="DM Sans SemiBold" pitchFamily="34" charset="0"/>
                <a:ea typeface="DM Sans SemiBold" pitchFamily="34" charset="-122"/>
                <a:cs typeface="DM Sans SemiBold" pitchFamily="34" charset="-120"/>
              </a:rPr>
              <a:t>Engineering</a:t>
            </a:r>
            <a:endParaRPr lang="en-US" sz="2000" dirty="0"/>
          </a:p>
        </p:txBody>
      </p:sp>
      <p:sp>
        <p:nvSpPr>
          <p:cNvPr id="101" name="Text 10">
            <a:extLst>
              <a:ext uri="{FF2B5EF4-FFF2-40B4-BE49-F238E27FC236}">
                <a16:creationId xmlns:a16="http://schemas.microsoft.com/office/drawing/2014/main" id="{42A5B371-A4EB-9437-0FC9-711DF09DE94D}"/>
              </a:ext>
            </a:extLst>
          </p:cNvPr>
          <p:cNvSpPr/>
          <p:nvPr/>
        </p:nvSpPr>
        <p:spPr>
          <a:xfrm>
            <a:off x="4994147" y="4789192"/>
            <a:ext cx="2896786" cy="923999"/>
          </a:xfrm>
          <a:prstGeom prst="rect">
            <a:avLst/>
          </a:prstGeom>
          <a:noFill/>
          <a:ln/>
        </p:spPr>
        <p:txBody>
          <a:bodyPr wrap="square" lIns="0" tIns="0" rIns="0" bIns="0" rtlCol="0" anchor="t">
            <a:normAutofit/>
          </a:bodyPr>
          <a:lstStyle/>
          <a:p>
            <a:pPr marL="193040" indent="-193040" algn="l">
              <a:lnSpc>
                <a:spcPct val="133000"/>
              </a:lnSpc>
              <a:buSzPct val="100000"/>
              <a:buChar char="•"/>
            </a:pPr>
            <a:r>
              <a:rPr lang="en-US" sz="1100" dirty="0">
                <a:solidFill>
                  <a:srgbClr val="464646"/>
                </a:solidFill>
                <a:latin typeface="Inter Medium" pitchFamily="34" charset="0"/>
                <a:ea typeface="Inter Medium" pitchFamily="34" charset="-122"/>
                <a:cs typeface="Inter Medium" pitchFamily="34" charset="-120"/>
              </a:rPr>
              <a:t>Git / GitHub</a:t>
            </a:r>
            <a:endParaRPr lang="en-US" sz="1100" dirty="0"/>
          </a:p>
          <a:p>
            <a:pPr marL="193040" indent="-193040" algn="l">
              <a:lnSpc>
                <a:spcPct val="133000"/>
              </a:lnSpc>
              <a:buSzPct val="100000"/>
              <a:buChar char="•"/>
            </a:pPr>
            <a:r>
              <a:rPr lang="en-US" sz="1100" dirty="0">
                <a:solidFill>
                  <a:srgbClr val="464646"/>
                </a:solidFill>
                <a:latin typeface="Inter Medium" pitchFamily="34" charset="0"/>
                <a:ea typeface="Inter Medium" pitchFamily="34" charset="-122"/>
                <a:cs typeface="Inter Medium" pitchFamily="34" charset="-120"/>
              </a:rPr>
              <a:t>Docker-ready environment</a:t>
            </a:r>
            <a:endParaRPr lang="en-US" sz="1100" dirty="0"/>
          </a:p>
          <a:p>
            <a:pPr marL="193040" indent="-193040" algn="l">
              <a:lnSpc>
                <a:spcPct val="133000"/>
              </a:lnSpc>
              <a:buSzPct val="100000"/>
              <a:buChar char="•"/>
            </a:pPr>
            <a:r>
              <a:rPr lang="en-US" sz="1100" dirty="0">
                <a:solidFill>
                  <a:srgbClr val="464646"/>
                </a:solidFill>
                <a:latin typeface="Inter Medium" pitchFamily="34" charset="0"/>
                <a:ea typeface="Inter Medium" pitchFamily="34" charset="-122"/>
                <a:cs typeface="Inter Medium" pitchFamily="34" charset="-120"/>
              </a:rPr>
              <a:t>Automated evaluation scripts</a:t>
            </a:r>
            <a:endParaRPr lang="en-US" sz="1100" dirty="0"/>
          </a:p>
          <a:p>
            <a:pPr marL="193040" indent="-193040" algn="l">
              <a:lnSpc>
                <a:spcPct val="133000"/>
              </a:lnSpc>
              <a:buSzPct val="100000"/>
              <a:buChar char="•"/>
            </a:pPr>
            <a:r>
              <a:rPr lang="en-US" sz="1100" dirty="0">
                <a:solidFill>
                  <a:srgbClr val="464646"/>
                </a:solidFill>
                <a:latin typeface="Inter Medium" pitchFamily="34" charset="0"/>
                <a:ea typeface="Inter Medium" pitchFamily="34" charset="-122"/>
                <a:cs typeface="Inter Medium" pitchFamily="34" charset="-120"/>
              </a:rPr>
              <a:t>Deterministic test fixtures</a:t>
            </a:r>
            <a:endParaRPr lang="en-US" sz="1100" dirty="0"/>
          </a:p>
        </p:txBody>
      </p:sp>
      <p:sp>
        <p:nvSpPr>
          <p:cNvPr id="103" name="TextBox 102">
            <a:extLst>
              <a:ext uri="{FF2B5EF4-FFF2-40B4-BE49-F238E27FC236}">
                <a16:creationId xmlns:a16="http://schemas.microsoft.com/office/drawing/2014/main" id="{56F761FE-26E3-7343-D2BF-53888C3BA26B}"/>
              </a:ext>
            </a:extLst>
          </p:cNvPr>
          <p:cNvSpPr txBox="1"/>
          <p:nvPr/>
        </p:nvSpPr>
        <p:spPr>
          <a:xfrm>
            <a:off x="1092010" y="4714778"/>
            <a:ext cx="2038815" cy="1504899"/>
          </a:xfrm>
          <a:prstGeom prst="rect">
            <a:avLst/>
          </a:prstGeom>
          <a:noFill/>
        </p:spPr>
        <p:txBody>
          <a:bodyPr wrap="square" rtlCol="0">
            <a:spAutoFit/>
          </a:bodyPr>
          <a:lstStyle/>
          <a:p>
            <a:pPr marL="193040" indent="-193040">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HTML</a:t>
            </a:r>
            <a:endParaRPr lang="en-US" sz="1200" dirty="0"/>
          </a:p>
          <a:p>
            <a:pPr marL="193040" indent="-193040">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CSS</a:t>
            </a:r>
            <a:endParaRPr lang="en-US" sz="1200" dirty="0"/>
          </a:p>
          <a:p>
            <a:pPr marL="193040" indent="-193040">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JavaScript</a:t>
            </a:r>
            <a:endParaRPr lang="en-US" sz="1200" dirty="0"/>
          </a:p>
          <a:p>
            <a:pPr marL="193040" indent="-193040">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WebSocket</a:t>
            </a:r>
            <a:endParaRPr lang="en-US" sz="1200" dirty="0"/>
          </a:p>
          <a:p>
            <a:pPr marL="193040" indent="-193040">
              <a:lnSpc>
                <a:spcPct val="133000"/>
              </a:lnSpc>
              <a:buSzPct val="100000"/>
              <a:buChar char="•"/>
            </a:pPr>
            <a:r>
              <a:rPr lang="en-US" sz="1200" dirty="0">
                <a:solidFill>
                  <a:srgbClr val="464646"/>
                </a:solidFill>
                <a:latin typeface="Inter Medium" pitchFamily="34" charset="0"/>
                <a:ea typeface="Inter Medium" pitchFamily="34" charset="-122"/>
                <a:cs typeface="Inter Medium" pitchFamily="34" charset="-120"/>
              </a:rPr>
              <a:t>Push-to-Talk Voice Layer</a:t>
            </a:r>
            <a:endParaRPr lang="en-US" sz="1200" dirty="0"/>
          </a:p>
          <a:p>
            <a:endParaRPr lang="en-IN" sz="1200" dirty="0"/>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9" name="Text 1">
            <a:extLst>
              <a:ext uri="{FF2B5EF4-FFF2-40B4-BE49-F238E27FC236}">
                <a16:creationId xmlns:a16="http://schemas.microsoft.com/office/drawing/2014/main" id="{9D848635-ABFD-F4C5-BDD9-A80C54F5FD56}"/>
              </a:ext>
            </a:extLst>
          </p:cNvPr>
          <p:cNvSpPr/>
          <p:nvPr/>
        </p:nvSpPr>
        <p:spPr>
          <a:xfrm>
            <a:off x="848360" y="1529726"/>
            <a:ext cx="4349650" cy="168385"/>
          </a:xfrm>
          <a:prstGeom prst="rect">
            <a:avLst/>
          </a:prstGeom>
          <a:noFill/>
          <a:ln/>
        </p:spPr>
        <p:txBody>
          <a:bodyPr wrap="none" lIns="0" tIns="0" rIns="0" bIns="0" rtlCol="0" anchor="t"/>
          <a:lstStyle/>
          <a:p>
            <a:pPr marL="0" indent="0" algn="l">
              <a:lnSpc>
                <a:spcPct val="104000"/>
              </a:lnSpc>
              <a:buNone/>
            </a:pPr>
            <a:r>
              <a:rPr lang="en-US" sz="900" b="1" dirty="0">
                <a:solidFill>
                  <a:srgbClr val="030303"/>
                </a:solidFill>
                <a:latin typeface="DM Sans SemiBold" pitchFamily="34" charset="0"/>
                <a:ea typeface="DM Sans SemiBold" pitchFamily="34" charset="-122"/>
                <a:cs typeface="DM Sans SemiBold" pitchFamily="34" charset="-120"/>
              </a:rPr>
              <a:t>Target Use Case: </a:t>
            </a:r>
            <a:r>
              <a:rPr lang="en-US" sz="900" dirty="0">
                <a:solidFill>
                  <a:srgbClr val="030303"/>
                </a:solidFill>
                <a:latin typeface="DM Sans SemiBold" pitchFamily="34" charset="0"/>
                <a:ea typeface="DM Sans SemiBold" pitchFamily="34" charset="-122"/>
                <a:cs typeface="DM Sans SemiBold" pitchFamily="34" charset="-120"/>
              </a:rPr>
              <a:t>Live Conference / Voice Knowledge Assistant</a:t>
            </a:r>
            <a:endParaRPr lang="en-US" sz="900" dirty="0"/>
          </a:p>
        </p:txBody>
      </p:sp>
      <p:sp>
        <p:nvSpPr>
          <p:cNvPr id="11" name="Text 2">
            <a:extLst>
              <a:ext uri="{FF2B5EF4-FFF2-40B4-BE49-F238E27FC236}">
                <a16:creationId xmlns:a16="http://schemas.microsoft.com/office/drawing/2014/main" id="{B2F26B7A-119E-32B9-2AB3-023638854589}"/>
              </a:ext>
            </a:extLst>
          </p:cNvPr>
          <p:cNvSpPr/>
          <p:nvPr/>
        </p:nvSpPr>
        <p:spPr>
          <a:xfrm>
            <a:off x="870805" y="1700747"/>
            <a:ext cx="3702209" cy="65708"/>
          </a:xfrm>
          <a:prstGeom prst="rect">
            <a:avLst/>
          </a:prstGeom>
          <a:noFill/>
          <a:ln/>
        </p:spPr>
        <p:txBody>
          <a:bodyPr wrap="none" lIns="0" tIns="0" rIns="0" bIns="0" rtlCol="0" anchor="t"/>
          <a:lstStyle/>
          <a:p>
            <a:pPr marL="0" indent="0" algn="l">
              <a:lnSpc>
                <a:spcPct val="100000"/>
              </a:lnSpc>
              <a:buNone/>
            </a:pPr>
            <a:r>
              <a:rPr lang="en-US" sz="700" dirty="0">
                <a:solidFill>
                  <a:srgbClr val="464646"/>
                </a:solidFill>
                <a:latin typeface="Inter Medium" pitchFamily="34" charset="0"/>
                <a:ea typeface="Inter Medium" pitchFamily="34" charset="-122"/>
                <a:cs typeface="Inter Medium" pitchFamily="34" charset="-120"/>
              </a:rPr>
              <a:t>A user can ask questions naturally while speaking instead of waiting for transcription to finish.</a:t>
            </a:r>
            <a:endParaRPr lang="en-US" sz="700" dirty="0"/>
          </a:p>
        </p:txBody>
      </p:sp>
      <p:sp>
        <p:nvSpPr>
          <p:cNvPr id="13" name="Text 3">
            <a:extLst>
              <a:ext uri="{FF2B5EF4-FFF2-40B4-BE49-F238E27FC236}">
                <a16:creationId xmlns:a16="http://schemas.microsoft.com/office/drawing/2014/main" id="{45B16F9A-7714-3D78-1628-1B07221B83A4}"/>
              </a:ext>
            </a:extLst>
          </p:cNvPr>
          <p:cNvSpPr/>
          <p:nvPr/>
        </p:nvSpPr>
        <p:spPr>
          <a:xfrm>
            <a:off x="870805" y="1883978"/>
            <a:ext cx="4000277" cy="96887"/>
          </a:xfrm>
          <a:prstGeom prst="rect">
            <a:avLst/>
          </a:prstGeom>
          <a:noFill/>
          <a:ln/>
        </p:spPr>
        <p:txBody>
          <a:bodyPr wrap="none" lIns="0" tIns="0" rIns="0" bIns="0" rtlCol="0" anchor="t"/>
          <a:lstStyle/>
          <a:p>
            <a:pPr marL="0" indent="0" algn="l">
              <a:lnSpc>
                <a:spcPct val="104000"/>
              </a:lnSpc>
              <a:buNone/>
            </a:pPr>
            <a:r>
              <a:rPr lang="en-US" sz="800" dirty="0">
                <a:solidFill>
                  <a:srgbClr val="030303"/>
                </a:solidFill>
                <a:latin typeface="DM Sans SemiBold" pitchFamily="34" charset="0"/>
                <a:ea typeface="DM Sans SemiBold" pitchFamily="34" charset="-122"/>
                <a:cs typeface="DM Sans SemiBold" pitchFamily="34" charset="-120"/>
              </a:rPr>
              <a:t>Before</a:t>
            </a:r>
            <a:endParaRPr lang="en-US" sz="800" dirty="0"/>
          </a:p>
        </p:txBody>
      </p:sp>
      <p:pic>
        <p:nvPicPr>
          <p:cNvPr id="15" name="Image 1" descr="preencoded.png">
            <a:extLst>
              <a:ext uri="{FF2B5EF4-FFF2-40B4-BE49-F238E27FC236}">
                <a16:creationId xmlns:a16="http://schemas.microsoft.com/office/drawing/2014/main" id="{9CABA7A9-7CBA-AFB8-2D92-B84FB8ABCB29}"/>
              </a:ext>
            </a:extLst>
          </p:cNvPr>
          <p:cNvPicPr>
            <a:picLocks noChangeAspect="1"/>
          </p:cNvPicPr>
          <p:nvPr/>
        </p:nvPicPr>
        <p:blipFill>
          <a:blip r:embed="rId2"/>
          <a:stretch>
            <a:fillRect/>
          </a:stretch>
        </p:blipFill>
        <p:spPr>
          <a:xfrm>
            <a:off x="747272" y="1966605"/>
            <a:ext cx="4698206" cy="1501080"/>
          </a:xfrm>
          <a:prstGeom prst="rect">
            <a:avLst/>
          </a:prstGeom>
        </p:spPr>
      </p:pic>
      <p:sp>
        <p:nvSpPr>
          <p:cNvPr id="17" name="Text 4">
            <a:extLst>
              <a:ext uri="{FF2B5EF4-FFF2-40B4-BE49-F238E27FC236}">
                <a16:creationId xmlns:a16="http://schemas.microsoft.com/office/drawing/2014/main" id="{7807C9CE-58C4-2AC0-4A5D-2CDFD4EF1BA5}"/>
              </a:ext>
            </a:extLst>
          </p:cNvPr>
          <p:cNvSpPr/>
          <p:nvPr/>
        </p:nvSpPr>
        <p:spPr>
          <a:xfrm>
            <a:off x="4545045" y="3064136"/>
            <a:ext cx="603359" cy="116229"/>
          </a:xfrm>
          <a:prstGeom prst="rect">
            <a:avLst/>
          </a:prstGeom>
          <a:noFill/>
          <a:ln/>
        </p:spPr>
        <p:txBody>
          <a:bodyPr wrap="none" lIns="0" tIns="0" rIns="0" bIns="0" rtlCol="0" anchor="t"/>
          <a:lstStyle/>
          <a:p>
            <a:pPr marL="0" indent="0" algn="ctr">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Answer</a:t>
            </a:r>
            <a:endParaRPr lang="en-US" sz="900" dirty="0"/>
          </a:p>
        </p:txBody>
      </p:sp>
      <p:sp>
        <p:nvSpPr>
          <p:cNvPr id="19" name="Text 5">
            <a:extLst>
              <a:ext uri="{FF2B5EF4-FFF2-40B4-BE49-F238E27FC236}">
                <a16:creationId xmlns:a16="http://schemas.microsoft.com/office/drawing/2014/main" id="{C4D5271D-DA47-11EF-BD57-E5F3A66F06FC}"/>
              </a:ext>
            </a:extLst>
          </p:cNvPr>
          <p:cNvSpPr/>
          <p:nvPr/>
        </p:nvSpPr>
        <p:spPr>
          <a:xfrm>
            <a:off x="3553506" y="3071338"/>
            <a:ext cx="603359" cy="116229"/>
          </a:xfrm>
          <a:prstGeom prst="rect">
            <a:avLst/>
          </a:prstGeom>
          <a:noFill/>
          <a:ln/>
        </p:spPr>
        <p:txBody>
          <a:bodyPr wrap="none" lIns="0" tIns="0" rIns="0" bIns="0" rtlCol="0" anchor="t"/>
          <a:lstStyle/>
          <a:p>
            <a:pPr marL="0" indent="0" algn="ctr">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Generate</a:t>
            </a:r>
            <a:endParaRPr lang="en-US" sz="900" dirty="0"/>
          </a:p>
        </p:txBody>
      </p:sp>
      <p:sp>
        <p:nvSpPr>
          <p:cNvPr id="21" name="Text 6">
            <a:extLst>
              <a:ext uri="{FF2B5EF4-FFF2-40B4-BE49-F238E27FC236}">
                <a16:creationId xmlns:a16="http://schemas.microsoft.com/office/drawing/2014/main" id="{80E937F1-409F-0BA4-D3FA-348B89E716A5}"/>
              </a:ext>
            </a:extLst>
          </p:cNvPr>
          <p:cNvSpPr/>
          <p:nvPr/>
        </p:nvSpPr>
        <p:spPr>
          <a:xfrm>
            <a:off x="2753595" y="3043440"/>
            <a:ext cx="603359" cy="116229"/>
          </a:xfrm>
          <a:prstGeom prst="rect">
            <a:avLst/>
          </a:prstGeom>
          <a:noFill/>
          <a:ln/>
        </p:spPr>
        <p:txBody>
          <a:bodyPr wrap="none" lIns="0" tIns="0" rIns="0" bIns="0" rtlCol="0" anchor="t"/>
          <a:lstStyle/>
          <a:p>
            <a:pPr marL="0" indent="0" algn="ctr">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Retrieve</a:t>
            </a:r>
            <a:endParaRPr lang="en-US" sz="900" dirty="0"/>
          </a:p>
        </p:txBody>
      </p:sp>
      <p:sp>
        <p:nvSpPr>
          <p:cNvPr id="23" name="Text 7">
            <a:extLst>
              <a:ext uri="{FF2B5EF4-FFF2-40B4-BE49-F238E27FC236}">
                <a16:creationId xmlns:a16="http://schemas.microsoft.com/office/drawing/2014/main" id="{B3D3CEBD-889E-68CE-CEEA-A2B083DD6996}"/>
              </a:ext>
            </a:extLst>
          </p:cNvPr>
          <p:cNvSpPr/>
          <p:nvPr/>
        </p:nvSpPr>
        <p:spPr>
          <a:xfrm>
            <a:off x="1898659" y="3064136"/>
            <a:ext cx="603358" cy="116229"/>
          </a:xfrm>
          <a:prstGeom prst="rect">
            <a:avLst/>
          </a:prstGeom>
          <a:noFill/>
          <a:ln/>
        </p:spPr>
        <p:txBody>
          <a:bodyPr wrap="none" lIns="0" tIns="0" rIns="0" bIns="0" rtlCol="0" anchor="t"/>
          <a:lstStyle/>
          <a:p>
            <a:pPr marL="0" indent="0" algn="ctr">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Finish</a:t>
            </a:r>
            <a:endParaRPr lang="en-US" sz="900" dirty="0"/>
          </a:p>
        </p:txBody>
      </p:sp>
      <p:sp>
        <p:nvSpPr>
          <p:cNvPr id="25" name="Text 8">
            <a:extLst>
              <a:ext uri="{FF2B5EF4-FFF2-40B4-BE49-F238E27FC236}">
                <a16:creationId xmlns:a16="http://schemas.microsoft.com/office/drawing/2014/main" id="{A236B11D-27C4-F218-E9BA-261828DC4C3D}"/>
              </a:ext>
            </a:extLst>
          </p:cNvPr>
          <p:cNvSpPr/>
          <p:nvPr/>
        </p:nvSpPr>
        <p:spPr>
          <a:xfrm>
            <a:off x="968564" y="3043439"/>
            <a:ext cx="603358" cy="116229"/>
          </a:xfrm>
          <a:prstGeom prst="rect">
            <a:avLst/>
          </a:prstGeom>
          <a:noFill/>
          <a:ln/>
        </p:spPr>
        <p:txBody>
          <a:bodyPr wrap="none" lIns="0" tIns="0" rIns="0" bIns="0" rtlCol="0" anchor="t"/>
          <a:lstStyle/>
          <a:p>
            <a:pPr marL="0" indent="0" algn="ctr">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Speak</a:t>
            </a:r>
            <a:endParaRPr lang="en-US" sz="900" dirty="0"/>
          </a:p>
        </p:txBody>
      </p:sp>
      <p:sp>
        <p:nvSpPr>
          <p:cNvPr id="27" name="Text 9">
            <a:extLst>
              <a:ext uri="{FF2B5EF4-FFF2-40B4-BE49-F238E27FC236}">
                <a16:creationId xmlns:a16="http://schemas.microsoft.com/office/drawing/2014/main" id="{25D03549-096B-9FBA-9569-97F2D022E1E1}"/>
              </a:ext>
            </a:extLst>
          </p:cNvPr>
          <p:cNvSpPr/>
          <p:nvPr/>
        </p:nvSpPr>
        <p:spPr>
          <a:xfrm>
            <a:off x="848361" y="3376430"/>
            <a:ext cx="4457477" cy="74340"/>
          </a:xfrm>
          <a:prstGeom prst="rect">
            <a:avLst/>
          </a:prstGeom>
          <a:noFill/>
          <a:ln/>
        </p:spPr>
        <p:txBody>
          <a:bodyPr wrap="none" lIns="0" tIns="0" rIns="0" bIns="0" rtlCol="0" anchor="t"/>
          <a:lstStyle/>
          <a:p>
            <a:pPr marL="0" indent="0" algn="l">
              <a:lnSpc>
                <a:spcPct val="100000"/>
              </a:lnSpc>
              <a:buNone/>
            </a:pPr>
            <a:r>
              <a:rPr lang="en-US" sz="900" dirty="0">
                <a:solidFill>
                  <a:srgbClr val="464646"/>
                </a:solidFill>
                <a:latin typeface="Inter Medium" pitchFamily="34" charset="0"/>
                <a:ea typeface="Inter Medium" pitchFamily="34" charset="-122"/>
                <a:cs typeface="Inter Medium" pitchFamily="34" charset="-120"/>
              </a:rPr>
              <a:t>Speak → Finish → Retrieve → Generate → Answer</a:t>
            </a:r>
            <a:endParaRPr lang="en-US" sz="900" dirty="0"/>
          </a:p>
        </p:txBody>
      </p:sp>
      <p:sp>
        <p:nvSpPr>
          <p:cNvPr id="29" name="Text 10">
            <a:extLst>
              <a:ext uri="{FF2B5EF4-FFF2-40B4-BE49-F238E27FC236}">
                <a16:creationId xmlns:a16="http://schemas.microsoft.com/office/drawing/2014/main" id="{E08241A2-1834-01CF-7136-77502DE95D24}"/>
              </a:ext>
            </a:extLst>
          </p:cNvPr>
          <p:cNvSpPr/>
          <p:nvPr/>
        </p:nvSpPr>
        <p:spPr>
          <a:xfrm>
            <a:off x="6219045" y="1717737"/>
            <a:ext cx="4000277" cy="96887"/>
          </a:xfrm>
          <a:prstGeom prst="rect">
            <a:avLst/>
          </a:prstGeom>
          <a:noFill/>
          <a:ln/>
        </p:spPr>
        <p:txBody>
          <a:bodyPr wrap="none" lIns="0" tIns="0" rIns="0" bIns="0" rtlCol="0" anchor="t"/>
          <a:lstStyle/>
          <a:p>
            <a:pPr marL="0" indent="0" algn="l">
              <a:lnSpc>
                <a:spcPct val="104000"/>
              </a:lnSpc>
              <a:buNone/>
            </a:pPr>
            <a:r>
              <a:rPr lang="en-US" sz="800" dirty="0">
                <a:solidFill>
                  <a:srgbClr val="030303"/>
                </a:solidFill>
                <a:latin typeface="DM Sans SemiBold" pitchFamily="34" charset="0"/>
                <a:ea typeface="DM Sans SemiBold" pitchFamily="34" charset="-122"/>
                <a:cs typeface="DM Sans SemiBold" pitchFamily="34" charset="-120"/>
              </a:rPr>
              <a:t>With Streaming-Live-RAG</a:t>
            </a:r>
            <a:endParaRPr lang="en-US" sz="800" dirty="0"/>
          </a:p>
        </p:txBody>
      </p:sp>
      <p:pic>
        <p:nvPicPr>
          <p:cNvPr id="31" name="Image 2" descr="preencoded.png">
            <a:extLst>
              <a:ext uri="{FF2B5EF4-FFF2-40B4-BE49-F238E27FC236}">
                <a16:creationId xmlns:a16="http://schemas.microsoft.com/office/drawing/2014/main" id="{1D5E0905-291F-B20C-7B41-2A4BF1C2A8BD}"/>
              </a:ext>
            </a:extLst>
          </p:cNvPr>
          <p:cNvPicPr>
            <a:picLocks noChangeAspect="1"/>
          </p:cNvPicPr>
          <p:nvPr/>
        </p:nvPicPr>
        <p:blipFill>
          <a:blip r:embed="rId3"/>
          <a:stretch>
            <a:fillRect/>
          </a:stretch>
        </p:blipFill>
        <p:spPr>
          <a:xfrm>
            <a:off x="6096000" y="1883978"/>
            <a:ext cx="4698206" cy="1501080"/>
          </a:xfrm>
          <a:prstGeom prst="rect">
            <a:avLst/>
          </a:prstGeom>
        </p:spPr>
      </p:pic>
      <p:sp>
        <p:nvSpPr>
          <p:cNvPr id="33" name="Text 11">
            <a:extLst>
              <a:ext uri="{FF2B5EF4-FFF2-40B4-BE49-F238E27FC236}">
                <a16:creationId xmlns:a16="http://schemas.microsoft.com/office/drawing/2014/main" id="{3F934A6A-B1F7-9BB2-5D13-65B3F72EDA34}"/>
              </a:ext>
            </a:extLst>
          </p:cNvPr>
          <p:cNvSpPr/>
          <p:nvPr/>
        </p:nvSpPr>
        <p:spPr>
          <a:xfrm>
            <a:off x="9917642" y="2921904"/>
            <a:ext cx="603359" cy="116229"/>
          </a:xfrm>
          <a:prstGeom prst="rect">
            <a:avLst/>
          </a:prstGeom>
          <a:noFill/>
          <a:ln/>
        </p:spPr>
        <p:txBody>
          <a:bodyPr wrap="none" lIns="0" tIns="0" rIns="0" bIns="0" rtlCol="0" anchor="t"/>
          <a:lstStyle/>
          <a:p>
            <a:pPr marL="0" indent="0" algn="ctr">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Commit</a:t>
            </a:r>
            <a:endParaRPr lang="en-US" sz="900" dirty="0"/>
          </a:p>
        </p:txBody>
      </p:sp>
      <p:sp>
        <p:nvSpPr>
          <p:cNvPr id="35" name="Text 12">
            <a:extLst>
              <a:ext uri="{FF2B5EF4-FFF2-40B4-BE49-F238E27FC236}">
                <a16:creationId xmlns:a16="http://schemas.microsoft.com/office/drawing/2014/main" id="{B5F1F128-519D-7562-FB71-23651915BD0D}"/>
              </a:ext>
            </a:extLst>
          </p:cNvPr>
          <p:cNvSpPr/>
          <p:nvPr/>
        </p:nvSpPr>
        <p:spPr>
          <a:xfrm>
            <a:off x="9062705" y="2869900"/>
            <a:ext cx="603359" cy="232458"/>
          </a:xfrm>
          <a:prstGeom prst="rect">
            <a:avLst/>
          </a:prstGeom>
          <a:noFill/>
          <a:ln/>
        </p:spPr>
        <p:txBody>
          <a:bodyPr wrap="square" lIns="0" tIns="0" rIns="0" bIns="0" rtlCol="0" anchor="t">
            <a:noAutofit/>
          </a:bodyPr>
          <a:lstStyle/>
          <a:p>
            <a:pPr marL="0" indent="0" algn="ctr">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Continue Speaking</a:t>
            </a:r>
            <a:endParaRPr lang="en-US" sz="900" dirty="0"/>
          </a:p>
        </p:txBody>
      </p:sp>
      <p:sp>
        <p:nvSpPr>
          <p:cNvPr id="37" name="Text 13">
            <a:extLst>
              <a:ext uri="{FF2B5EF4-FFF2-40B4-BE49-F238E27FC236}">
                <a16:creationId xmlns:a16="http://schemas.microsoft.com/office/drawing/2014/main" id="{DA11A732-A76D-A56A-0B51-B70FB40ADC41}"/>
              </a:ext>
            </a:extLst>
          </p:cNvPr>
          <p:cNvSpPr/>
          <p:nvPr/>
        </p:nvSpPr>
        <p:spPr>
          <a:xfrm>
            <a:off x="8207768" y="2902197"/>
            <a:ext cx="603359" cy="232458"/>
          </a:xfrm>
          <a:prstGeom prst="rect">
            <a:avLst/>
          </a:prstGeom>
          <a:noFill/>
          <a:ln/>
        </p:spPr>
        <p:txBody>
          <a:bodyPr wrap="square" lIns="0" tIns="0" rIns="0" bIns="0" rtlCol="0" anchor="t">
            <a:noAutofit/>
          </a:bodyPr>
          <a:lstStyle/>
          <a:p>
            <a:pPr marL="0" indent="0" algn="ctr">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Early Retrieval</a:t>
            </a:r>
            <a:endParaRPr lang="en-US" sz="900" dirty="0"/>
          </a:p>
        </p:txBody>
      </p:sp>
      <p:sp>
        <p:nvSpPr>
          <p:cNvPr id="39" name="Text 14">
            <a:extLst>
              <a:ext uri="{FF2B5EF4-FFF2-40B4-BE49-F238E27FC236}">
                <a16:creationId xmlns:a16="http://schemas.microsoft.com/office/drawing/2014/main" id="{B26ED91C-3C47-7D7D-E9DA-D168FB559EF0}"/>
              </a:ext>
            </a:extLst>
          </p:cNvPr>
          <p:cNvSpPr/>
          <p:nvPr/>
        </p:nvSpPr>
        <p:spPr>
          <a:xfrm>
            <a:off x="7397044" y="2905819"/>
            <a:ext cx="603359" cy="232458"/>
          </a:xfrm>
          <a:prstGeom prst="rect">
            <a:avLst/>
          </a:prstGeom>
          <a:noFill/>
          <a:ln/>
        </p:spPr>
        <p:txBody>
          <a:bodyPr wrap="square" lIns="0" tIns="0" rIns="0" bIns="0" rtlCol="0" anchor="t">
            <a:noAutofit/>
          </a:bodyPr>
          <a:lstStyle/>
          <a:p>
            <a:pPr marL="0" indent="0" algn="ctr">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Partial Transcript</a:t>
            </a:r>
            <a:endParaRPr lang="en-US" sz="900" dirty="0"/>
          </a:p>
        </p:txBody>
      </p:sp>
      <p:sp>
        <p:nvSpPr>
          <p:cNvPr id="41" name="Text 15">
            <a:extLst>
              <a:ext uri="{FF2B5EF4-FFF2-40B4-BE49-F238E27FC236}">
                <a16:creationId xmlns:a16="http://schemas.microsoft.com/office/drawing/2014/main" id="{D4D520D0-AA49-AE80-0141-010ADC16A979}"/>
              </a:ext>
            </a:extLst>
          </p:cNvPr>
          <p:cNvSpPr/>
          <p:nvPr/>
        </p:nvSpPr>
        <p:spPr>
          <a:xfrm>
            <a:off x="6405505" y="2986129"/>
            <a:ext cx="603359" cy="116229"/>
          </a:xfrm>
          <a:prstGeom prst="rect">
            <a:avLst/>
          </a:prstGeom>
          <a:noFill/>
          <a:ln/>
        </p:spPr>
        <p:txBody>
          <a:bodyPr wrap="none" lIns="0" tIns="0" rIns="0" bIns="0" rtlCol="0" anchor="t"/>
          <a:lstStyle/>
          <a:p>
            <a:pPr marL="0" indent="0" algn="ctr">
              <a:lnSpc>
                <a:spcPct val="104000"/>
              </a:lnSpc>
              <a:buNone/>
            </a:pPr>
            <a:r>
              <a:rPr lang="en-US" sz="900" dirty="0">
                <a:solidFill>
                  <a:srgbClr val="464646"/>
                </a:solidFill>
                <a:latin typeface="DM Sans SemiBold" pitchFamily="34" charset="0"/>
                <a:ea typeface="DM Sans SemiBold" pitchFamily="34" charset="-122"/>
                <a:cs typeface="DM Sans SemiBold" pitchFamily="34" charset="-120"/>
              </a:rPr>
              <a:t>Speak</a:t>
            </a:r>
            <a:endParaRPr lang="en-US" sz="900" dirty="0"/>
          </a:p>
        </p:txBody>
      </p:sp>
      <p:sp>
        <p:nvSpPr>
          <p:cNvPr id="43" name="Text 16">
            <a:extLst>
              <a:ext uri="{FF2B5EF4-FFF2-40B4-BE49-F238E27FC236}">
                <a16:creationId xmlns:a16="http://schemas.microsoft.com/office/drawing/2014/main" id="{5640954F-9E2D-4D80-73BD-EC6AE467C040}"/>
              </a:ext>
            </a:extLst>
          </p:cNvPr>
          <p:cNvSpPr/>
          <p:nvPr/>
        </p:nvSpPr>
        <p:spPr>
          <a:xfrm>
            <a:off x="6336729" y="3371142"/>
            <a:ext cx="4457477" cy="128550"/>
          </a:xfrm>
          <a:prstGeom prst="rect">
            <a:avLst/>
          </a:prstGeom>
          <a:noFill/>
          <a:ln/>
        </p:spPr>
        <p:txBody>
          <a:bodyPr wrap="none" lIns="0" tIns="0" rIns="0" bIns="0" rtlCol="0" anchor="t"/>
          <a:lstStyle/>
          <a:p>
            <a:pPr marL="0" indent="0" algn="l">
              <a:lnSpc>
                <a:spcPct val="100000"/>
              </a:lnSpc>
              <a:buNone/>
            </a:pPr>
            <a:r>
              <a:rPr lang="en-US" sz="900" dirty="0">
                <a:solidFill>
                  <a:srgbClr val="464646"/>
                </a:solidFill>
                <a:latin typeface="Inter Medium" pitchFamily="34" charset="0"/>
                <a:ea typeface="Inter Medium" pitchFamily="34" charset="-122"/>
                <a:cs typeface="Inter Medium" pitchFamily="34" charset="-120"/>
              </a:rPr>
              <a:t>Speak → Partial Transcript → Early Retrieval → Continue Speaking → Commit → Answer</a:t>
            </a:r>
            <a:endParaRPr lang="en-US" sz="900" dirty="0"/>
          </a:p>
        </p:txBody>
      </p:sp>
      <p:sp>
        <p:nvSpPr>
          <p:cNvPr id="45" name="Text 17">
            <a:extLst>
              <a:ext uri="{FF2B5EF4-FFF2-40B4-BE49-F238E27FC236}">
                <a16:creationId xmlns:a16="http://schemas.microsoft.com/office/drawing/2014/main" id="{749F1B11-AEBA-6574-CA63-EC14BEC782FC}"/>
              </a:ext>
            </a:extLst>
          </p:cNvPr>
          <p:cNvSpPr/>
          <p:nvPr/>
        </p:nvSpPr>
        <p:spPr>
          <a:xfrm>
            <a:off x="848360" y="3963023"/>
            <a:ext cx="8151763" cy="96887"/>
          </a:xfrm>
          <a:prstGeom prst="rect">
            <a:avLst/>
          </a:prstGeom>
          <a:noFill/>
          <a:ln/>
        </p:spPr>
        <p:txBody>
          <a:bodyPr wrap="none" lIns="0" tIns="0" rIns="0" bIns="0" rtlCol="0" anchor="t"/>
          <a:lstStyle/>
          <a:p>
            <a:pPr marL="0" indent="0" algn="l">
              <a:lnSpc>
                <a:spcPct val="104000"/>
              </a:lnSpc>
              <a:buNone/>
            </a:pPr>
            <a:r>
              <a:rPr lang="en-US" sz="1400" b="1" dirty="0">
                <a:solidFill>
                  <a:srgbClr val="030303"/>
                </a:solidFill>
                <a:latin typeface="DM Sans SemiBold" pitchFamily="34" charset="0"/>
                <a:ea typeface="DM Sans SemiBold" pitchFamily="34" charset="-122"/>
                <a:cs typeface="DM Sans SemiBold" pitchFamily="34" charset="-120"/>
              </a:rPr>
              <a:t>Impact</a:t>
            </a:r>
            <a:endParaRPr lang="en-US" sz="1400" b="1" dirty="0"/>
          </a:p>
        </p:txBody>
      </p:sp>
      <p:sp>
        <p:nvSpPr>
          <p:cNvPr id="47" name="Text 18">
            <a:extLst>
              <a:ext uri="{FF2B5EF4-FFF2-40B4-BE49-F238E27FC236}">
                <a16:creationId xmlns:a16="http://schemas.microsoft.com/office/drawing/2014/main" id="{CB195C01-F77C-FBEC-97F2-409F2F1D2CD5}"/>
              </a:ext>
            </a:extLst>
          </p:cNvPr>
          <p:cNvSpPr/>
          <p:nvPr/>
        </p:nvSpPr>
        <p:spPr>
          <a:xfrm>
            <a:off x="848360" y="4243141"/>
            <a:ext cx="4202271" cy="1457572"/>
          </a:xfrm>
          <a:prstGeom prst="rect">
            <a:avLst/>
          </a:prstGeom>
          <a:noFill/>
          <a:ln/>
        </p:spPr>
        <p:txBody>
          <a:bodyPr wrap="square" lIns="0" tIns="0" rIns="0" bIns="0" rtlCol="0" anchor="t">
            <a:noAutofit/>
          </a:bodyPr>
          <a:lstStyle/>
          <a:p>
            <a:pPr marL="91440" indent="-91440" algn="l">
              <a:lnSpc>
                <a:spcPct val="100000"/>
              </a:lnSpc>
              <a:buSzPct val="100000"/>
              <a:buChar char="•"/>
            </a:pPr>
            <a:r>
              <a:rPr lang="en-US" sz="1100" dirty="0">
                <a:solidFill>
                  <a:srgbClr val="464646"/>
                </a:solidFill>
                <a:latin typeface="Inter Medium" pitchFamily="34" charset="0"/>
                <a:ea typeface="Inter Medium" pitchFamily="34" charset="-122"/>
                <a:cs typeface="Inter Medium" pitchFamily="34" charset="-120"/>
              </a:rPr>
              <a:t>Reduces the delay before useful evidence is available.</a:t>
            </a:r>
            <a:endParaRPr lang="en-US" sz="1100" dirty="0"/>
          </a:p>
          <a:p>
            <a:pPr marL="91440" indent="-91440" algn="l">
              <a:lnSpc>
                <a:spcPct val="100000"/>
              </a:lnSpc>
              <a:buSzPct val="100000"/>
              <a:buChar char="•"/>
            </a:pPr>
            <a:r>
              <a:rPr lang="en-US" sz="1100" dirty="0">
                <a:solidFill>
                  <a:srgbClr val="464646"/>
                </a:solidFill>
                <a:latin typeface="Inter Medium" pitchFamily="34" charset="0"/>
                <a:ea typeface="Inter Medium" pitchFamily="34" charset="-122"/>
                <a:cs typeface="Inter Medium" pitchFamily="34" charset="-120"/>
              </a:rPr>
              <a:t>Avoids unnecessary retrieval from unstable transcript fragments.</a:t>
            </a:r>
            <a:endParaRPr lang="en-US" sz="1100" dirty="0"/>
          </a:p>
          <a:p>
            <a:pPr marL="91440" indent="-91440" algn="l">
              <a:lnSpc>
                <a:spcPct val="100000"/>
              </a:lnSpc>
              <a:buSzPct val="100000"/>
              <a:buChar char="•"/>
            </a:pPr>
            <a:r>
              <a:rPr lang="en-US" sz="1100" dirty="0">
                <a:solidFill>
                  <a:srgbClr val="464646"/>
                </a:solidFill>
                <a:latin typeface="Inter Medium" pitchFamily="34" charset="0"/>
                <a:ea typeface="Inter Medium" pitchFamily="34" charset="-122"/>
                <a:cs typeface="Inter Medium" pitchFamily="34" charset="-120"/>
              </a:rPr>
              <a:t>Reuses previously retrieved evidence when applicable.</a:t>
            </a:r>
            <a:endParaRPr lang="en-US" sz="1100" dirty="0"/>
          </a:p>
          <a:p>
            <a:pPr marL="91440" indent="-91440" algn="l">
              <a:lnSpc>
                <a:spcPct val="100000"/>
              </a:lnSpc>
              <a:buSzPct val="100000"/>
              <a:buChar char="•"/>
            </a:pPr>
            <a:r>
              <a:rPr lang="en-US" sz="1100" dirty="0">
                <a:solidFill>
                  <a:srgbClr val="464646"/>
                </a:solidFill>
                <a:latin typeface="Inter Medium" pitchFamily="34" charset="0"/>
                <a:ea typeface="Inter Medium" pitchFamily="34" charset="-122"/>
                <a:cs typeface="Inter Medium" pitchFamily="34" charset="-120"/>
              </a:rPr>
              <a:t>Handles refined and compound questions.</a:t>
            </a:r>
            <a:endParaRPr lang="en-US" sz="1100" dirty="0"/>
          </a:p>
          <a:p>
            <a:pPr marL="91440" indent="-91440" algn="l">
              <a:lnSpc>
                <a:spcPct val="100000"/>
              </a:lnSpc>
              <a:buSzPct val="100000"/>
              <a:buChar char="•"/>
            </a:pPr>
            <a:r>
              <a:rPr lang="en-US" sz="1100" dirty="0">
                <a:solidFill>
                  <a:srgbClr val="464646"/>
                </a:solidFill>
                <a:latin typeface="Inter Medium" pitchFamily="34" charset="0"/>
                <a:ea typeface="Inter Medium" pitchFamily="34" charset="-122"/>
                <a:cs typeface="Inter Medium" pitchFamily="34" charset="-120"/>
              </a:rPr>
              <a:t>Maintains evidence grounding during streaming interaction.</a:t>
            </a:r>
            <a:endParaRPr lang="en-US" sz="1100" dirty="0"/>
          </a:p>
          <a:p>
            <a:pPr marL="91440" indent="-91440" algn="l">
              <a:lnSpc>
                <a:spcPct val="100000"/>
              </a:lnSpc>
              <a:buSzPct val="100000"/>
              <a:buChar char="•"/>
            </a:pPr>
            <a:r>
              <a:rPr lang="en-US" sz="1100" dirty="0">
                <a:solidFill>
                  <a:srgbClr val="464646"/>
                </a:solidFill>
                <a:latin typeface="Inter Medium" pitchFamily="34" charset="0"/>
                <a:ea typeface="Inter Medium" pitchFamily="34" charset="-122"/>
                <a:cs typeface="Inter Medium" pitchFamily="34" charset="-120"/>
              </a:rPr>
              <a:t>Supports local/private inference using Ollama.</a:t>
            </a:r>
            <a:endParaRPr lang="en-US" sz="1100" dirty="0"/>
          </a:p>
        </p:txBody>
      </p:sp>
      <p:sp>
        <p:nvSpPr>
          <p:cNvPr id="49" name="Text 19">
            <a:extLst>
              <a:ext uri="{FF2B5EF4-FFF2-40B4-BE49-F238E27FC236}">
                <a16:creationId xmlns:a16="http://schemas.microsoft.com/office/drawing/2014/main" id="{0FF301C2-4158-DA70-6833-04737061814B}"/>
              </a:ext>
            </a:extLst>
          </p:cNvPr>
          <p:cNvSpPr/>
          <p:nvPr/>
        </p:nvSpPr>
        <p:spPr>
          <a:xfrm>
            <a:off x="5784610" y="3963022"/>
            <a:ext cx="8151763" cy="96887"/>
          </a:xfrm>
          <a:prstGeom prst="rect">
            <a:avLst/>
          </a:prstGeom>
          <a:noFill/>
          <a:ln/>
        </p:spPr>
        <p:txBody>
          <a:bodyPr wrap="none" lIns="0" tIns="0" rIns="0" bIns="0" rtlCol="0" anchor="t"/>
          <a:lstStyle/>
          <a:p>
            <a:pPr marL="0" indent="0" algn="l">
              <a:lnSpc>
                <a:spcPct val="104000"/>
              </a:lnSpc>
              <a:buNone/>
            </a:pPr>
            <a:r>
              <a:rPr lang="en-US" sz="1400" b="1" dirty="0">
                <a:solidFill>
                  <a:srgbClr val="030303"/>
                </a:solidFill>
                <a:latin typeface="DM Sans SemiBold" pitchFamily="34" charset="0"/>
                <a:ea typeface="DM Sans SemiBold" pitchFamily="34" charset="-122"/>
                <a:cs typeface="DM Sans SemiBold" pitchFamily="34" charset="-120"/>
              </a:rPr>
              <a:t>Potential Applications</a:t>
            </a:r>
            <a:endParaRPr lang="en-US" sz="1400" b="1" dirty="0"/>
          </a:p>
        </p:txBody>
      </p:sp>
      <p:sp>
        <p:nvSpPr>
          <p:cNvPr id="51" name="Text 20">
            <a:extLst>
              <a:ext uri="{FF2B5EF4-FFF2-40B4-BE49-F238E27FC236}">
                <a16:creationId xmlns:a16="http://schemas.microsoft.com/office/drawing/2014/main" id="{D8393AAE-866E-1C2C-7BCA-F7DC51152E59}"/>
              </a:ext>
            </a:extLst>
          </p:cNvPr>
          <p:cNvSpPr/>
          <p:nvPr/>
        </p:nvSpPr>
        <p:spPr>
          <a:xfrm>
            <a:off x="5784610" y="4315809"/>
            <a:ext cx="3387965" cy="856265"/>
          </a:xfrm>
          <a:prstGeom prst="rect">
            <a:avLst/>
          </a:prstGeom>
          <a:noFill/>
          <a:ln/>
        </p:spPr>
        <p:txBody>
          <a:bodyPr wrap="square" lIns="0" tIns="0" rIns="0" bIns="0" rtlCol="0" anchor="t">
            <a:normAutofit/>
          </a:bodyPr>
          <a:lstStyle/>
          <a:p>
            <a:pPr marL="91440" indent="-91440" algn="l">
              <a:lnSpc>
                <a:spcPct val="100000"/>
              </a:lnSpc>
              <a:buSzPct val="100000"/>
              <a:buChar char="•"/>
            </a:pPr>
            <a:r>
              <a:rPr lang="en-US" sz="1100" dirty="0">
                <a:solidFill>
                  <a:srgbClr val="464646"/>
                </a:solidFill>
                <a:latin typeface="Inter Medium" pitchFamily="34" charset="0"/>
                <a:ea typeface="Inter Medium" pitchFamily="34" charset="-122"/>
                <a:cs typeface="Inter Medium" pitchFamily="34" charset="-120"/>
              </a:rPr>
              <a:t>Conference assistants</a:t>
            </a:r>
            <a:endParaRPr lang="en-US" sz="1100" dirty="0"/>
          </a:p>
          <a:p>
            <a:pPr marL="91440" indent="-91440" algn="l">
              <a:lnSpc>
                <a:spcPct val="100000"/>
              </a:lnSpc>
              <a:buSzPct val="100000"/>
              <a:buChar char="•"/>
            </a:pPr>
            <a:r>
              <a:rPr lang="en-US" sz="1100" dirty="0">
                <a:solidFill>
                  <a:srgbClr val="464646"/>
                </a:solidFill>
                <a:latin typeface="Inter Medium" pitchFamily="34" charset="0"/>
                <a:ea typeface="Inter Medium" pitchFamily="34" charset="-122"/>
                <a:cs typeface="Inter Medium" pitchFamily="34" charset="-120"/>
              </a:rPr>
              <a:t>Meeting knowledge assistants</a:t>
            </a:r>
            <a:endParaRPr lang="en-US" sz="1100" dirty="0"/>
          </a:p>
          <a:p>
            <a:pPr marL="91440" indent="-91440" algn="l">
              <a:lnSpc>
                <a:spcPct val="100000"/>
              </a:lnSpc>
              <a:buSzPct val="100000"/>
              <a:buChar char="•"/>
            </a:pPr>
            <a:r>
              <a:rPr lang="en-US" sz="1100" dirty="0">
                <a:solidFill>
                  <a:srgbClr val="464646"/>
                </a:solidFill>
                <a:latin typeface="Inter Medium" pitchFamily="34" charset="0"/>
                <a:ea typeface="Inter Medium" pitchFamily="34" charset="-122"/>
                <a:cs typeface="Inter Medium" pitchFamily="34" charset="-120"/>
              </a:rPr>
              <a:t>Enterprise policy assistants</a:t>
            </a:r>
            <a:endParaRPr lang="en-US" sz="1100" dirty="0"/>
          </a:p>
          <a:p>
            <a:pPr marL="91440" indent="-91440" algn="l">
              <a:lnSpc>
                <a:spcPct val="100000"/>
              </a:lnSpc>
              <a:buSzPct val="100000"/>
              <a:buChar char="•"/>
            </a:pPr>
            <a:r>
              <a:rPr lang="en-US" sz="1100" dirty="0">
                <a:solidFill>
                  <a:srgbClr val="464646"/>
                </a:solidFill>
                <a:latin typeface="Inter Medium" pitchFamily="34" charset="0"/>
                <a:ea typeface="Inter Medium" pitchFamily="34" charset="-122"/>
                <a:cs typeface="Inter Medium" pitchFamily="34" charset="-120"/>
              </a:rPr>
              <a:t>Live customer-support systems</a:t>
            </a:r>
            <a:endParaRPr lang="en-US" sz="1100" dirty="0"/>
          </a:p>
          <a:p>
            <a:pPr marL="91440" indent="-91440" algn="l">
              <a:lnSpc>
                <a:spcPct val="100000"/>
              </a:lnSpc>
              <a:buSzPct val="100000"/>
              <a:buChar char="•"/>
            </a:pPr>
            <a:r>
              <a:rPr lang="en-US" sz="1100" dirty="0">
                <a:solidFill>
                  <a:srgbClr val="464646"/>
                </a:solidFill>
                <a:latin typeface="Inter Medium" pitchFamily="34" charset="0"/>
                <a:ea typeface="Inter Medium" pitchFamily="34" charset="-122"/>
                <a:cs typeface="Inter Medium" pitchFamily="34" charset="-120"/>
              </a:rPr>
              <a:t>Voice-based knowledge retrieval</a:t>
            </a:r>
            <a:endParaRPr lang="en-US" sz="1100" dirty="0"/>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pic>
        <p:nvPicPr>
          <p:cNvPr id="5" name="Image 0" descr="preencoded.png">
            <a:extLst>
              <a:ext uri="{FF2B5EF4-FFF2-40B4-BE49-F238E27FC236}">
                <a16:creationId xmlns:a16="http://schemas.microsoft.com/office/drawing/2014/main" id="{EAD2E981-7E16-9FFB-FE7D-FE90353A223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36455" y="1790337"/>
            <a:ext cx="300410" cy="300410"/>
          </a:xfrm>
          <a:prstGeom prst="rect">
            <a:avLst/>
          </a:prstGeom>
        </p:spPr>
      </p:pic>
      <p:sp>
        <p:nvSpPr>
          <p:cNvPr id="7" name="Text 2">
            <a:extLst>
              <a:ext uri="{FF2B5EF4-FFF2-40B4-BE49-F238E27FC236}">
                <a16:creationId xmlns:a16="http://schemas.microsoft.com/office/drawing/2014/main" id="{C4A33FCB-D7AD-19A4-DF82-F0867F8D386E}"/>
              </a:ext>
            </a:extLst>
          </p:cNvPr>
          <p:cNvSpPr/>
          <p:nvPr/>
        </p:nvSpPr>
        <p:spPr>
          <a:xfrm>
            <a:off x="1236455" y="2236226"/>
            <a:ext cx="1237357" cy="187747"/>
          </a:xfrm>
          <a:prstGeom prst="rect">
            <a:avLst/>
          </a:prstGeom>
          <a:noFill/>
          <a:ln/>
        </p:spPr>
        <p:txBody>
          <a:bodyPr wrap="none" lIns="0" tIns="0" rIns="0" bIns="0" rtlCol="0" anchor="t"/>
          <a:lstStyle/>
          <a:p>
            <a:pPr marL="0" indent="0" algn="l">
              <a:lnSpc>
                <a:spcPct val="104000"/>
              </a:lnSpc>
              <a:buNone/>
            </a:pPr>
            <a:r>
              <a:rPr lang="en-US" sz="1150" dirty="0">
                <a:solidFill>
                  <a:srgbClr val="464646"/>
                </a:solidFill>
                <a:latin typeface="DM Sans SemiBold" pitchFamily="34" charset="0"/>
                <a:ea typeface="DM Sans SemiBold" pitchFamily="34" charset="-122"/>
                <a:cs typeface="DM Sans SemiBold" pitchFamily="34" charset="-120"/>
              </a:rPr>
              <a:t>Early Retrieval</a:t>
            </a:r>
            <a:endParaRPr lang="en-US" sz="1150" dirty="0"/>
          </a:p>
        </p:txBody>
      </p:sp>
      <p:sp>
        <p:nvSpPr>
          <p:cNvPr id="9" name="Text 3">
            <a:extLst>
              <a:ext uri="{FF2B5EF4-FFF2-40B4-BE49-F238E27FC236}">
                <a16:creationId xmlns:a16="http://schemas.microsoft.com/office/drawing/2014/main" id="{B3447DA1-9AAB-4AC4-B351-FA2207527844}"/>
              </a:ext>
            </a:extLst>
          </p:cNvPr>
          <p:cNvSpPr/>
          <p:nvPr/>
        </p:nvSpPr>
        <p:spPr>
          <a:xfrm>
            <a:off x="1236455" y="2493773"/>
            <a:ext cx="1237357" cy="567705"/>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464646"/>
                </a:solidFill>
                <a:latin typeface="Inter Medium" pitchFamily="34" charset="0"/>
                <a:ea typeface="Inter Medium" pitchFamily="34" charset="-122"/>
                <a:cs typeface="Inter Medium" pitchFamily="34" charset="-120"/>
              </a:rPr>
              <a:t>Retrieval preparation starts before the query is complete.</a:t>
            </a:r>
            <a:endParaRPr lang="en-US" sz="900" dirty="0"/>
          </a:p>
        </p:txBody>
      </p:sp>
      <p:pic>
        <p:nvPicPr>
          <p:cNvPr id="11" name="Image 1" descr="preencoded.png">
            <a:extLst>
              <a:ext uri="{FF2B5EF4-FFF2-40B4-BE49-F238E27FC236}">
                <a16:creationId xmlns:a16="http://schemas.microsoft.com/office/drawing/2014/main" id="{F6520A75-B16E-DA92-EB38-13ABE82C90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6690" y="1703595"/>
            <a:ext cx="300410" cy="300410"/>
          </a:xfrm>
          <a:prstGeom prst="rect">
            <a:avLst/>
          </a:prstGeom>
        </p:spPr>
      </p:pic>
      <p:sp>
        <p:nvSpPr>
          <p:cNvPr id="13" name="Text 4">
            <a:extLst>
              <a:ext uri="{FF2B5EF4-FFF2-40B4-BE49-F238E27FC236}">
                <a16:creationId xmlns:a16="http://schemas.microsoft.com/office/drawing/2014/main" id="{292762A0-6186-44E2-91AE-5A893D32DEE9}"/>
              </a:ext>
            </a:extLst>
          </p:cNvPr>
          <p:cNvSpPr/>
          <p:nvPr/>
        </p:nvSpPr>
        <p:spPr>
          <a:xfrm>
            <a:off x="2696690" y="2149484"/>
            <a:ext cx="1237431" cy="563240"/>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464646"/>
                </a:solidFill>
                <a:latin typeface="DM Sans SemiBold" pitchFamily="34" charset="0"/>
                <a:ea typeface="DM Sans SemiBold" pitchFamily="34" charset="-122"/>
                <a:cs typeface="DM Sans SemiBold" pitchFamily="34" charset="-120"/>
              </a:rPr>
              <a:t>Deterministic Streaming Control</a:t>
            </a:r>
            <a:endParaRPr lang="en-US" sz="1150" dirty="0"/>
          </a:p>
        </p:txBody>
      </p:sp>
      <p:sp>
        <p:nvSpPr>
          <p:cNvPr id="15" name="Text 5">
            <a:extLst>
              <a:ext uri="{FF2B5EF4-FFF2-40B4-BE49-F238E27FC236}">
                <a16:creationId xmlns:a16="http://schemas.microsoft.com/office/drawing/2014/main" id="{08B3C4C5-D98E-0F84-6F71-08C27CEA34E7}"/>
              </a:ext>
            </a:extLst>
          </p:cNvPr>
          <p:cNvSpPr/>
          <p:nvPr/>
        </p:nvSpPr>
        <p:spPr>
          <a:xfrm>
            <a:off x="2696690" y="2782525"/>
            <a:ext cx="1237431" cy="75694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464646"/>
                </a:solidFill>
                <a:latin typeface="Inter Medium" pitchFamily="34" charset="0"/>
                <a:ea typeface="Inter Medium" pitchFamily="34" charset="-122"/>
                <a:cs typeface="Inter Medium" pitchFamily="34" charset="-120"/>
              </a:rPr>
              <a:t>WAIT / SUPPRESS / RETRIEVE controls when retrieval happens.</a:t>
            </a:r>
            <a:endParaRPr lang="en-US" sz="900" dirty="0"/>
          </a:p>
        </p:txBody>
      </p:sp>
      <p:pic>
        <p:nvPicPr>
          <p:cNvPr id="17" name="Image 2" descr="preencoded.png">
            <a:extLst>
              <a:ext uri="{FF2B5EF4-FFF2-40B4-BE49-F238E27FC236}">
                <a16:creationId xmlns:a16="http://schemas.microsoft.com/office/drawing/2014/main" id="{F34589A3-449F-53EE-22DC-AC3E44B7DA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6550" y="1690688"/>
            <a:ext cx="300410" cy="300410"/>
          </a:xfrm>
          <a:prstGeom prst="rect">
            <a:avLst/>
          </a:prstGeom>
        </p:spPr>
      </p:pic>
      <p:sp>
        <p:nvSpPr>
          <p:cNvPr id="19" name="Text 6">
            <a:extLst>
              <a:ext uri="{FF2B5EF4-FFF2-40B4-BE49-F238E27FC236}">
                <a16:creationId xmlns:a16="http://schemas.microsoft.com/office/drawing/2014/main" id="{082823A6-BBEF-3D6B-25E0-F696E3ECA154}"/>
              </a:ext>
            </a:extLst>
          </p:cNvPr>
          <p:cNvSpPr/>
          <p:nvPr/>
        </p:nvSpPr>
        <p:spPr>
          <a:xfrm>
            <a:off x="4546550" y="2136577"/>
            <a:ext cx="1237357" cy="375493"/>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464646"/>
                </a:solidFill>
                <a:latin typeface="DM Sans SemiBold" pitchFamily="34" charset="0"/>
                <a:ea typeface="DM Sans SemiBold" pitchFamily="34" charset="-122"/>
                <a:cs typeface="DM Sans SemiBold" pitchFamily="34" charset="-120"/>
              </a:rPr>
              <a:t>Retrieval Reuse + Delta Retrieval</a:t>
            </a:r>
            <a:endParaRPr lang="en-US" sz="1150" dirty="0"/>
          </a:p>
        </p:txBody>
      </p:sp>
      <p:sp>
        <p:nvSpPr>
          <p:cNvPr id="21" name="Text 7">
            <a:extLst>
              <a:ext uri="{FF2B5EF4-FFF2-40B4-BE49-F238E27FC236}">
                <a16:creationId xmlns:a16="http://schemas.microsoft.com/office/drawing/2014/main" id="{F14D20D0-50D2-0AE7-26D0-4F2C8DBE9391}"/>
              </a:ext>
            </a:extLst>
          </p:cNvPr>
          <p:cNvSpPr/>
          <p:nvPr/>
        </p:nvSpPr>
        <p:spPr>
          <a:xfrm>
            <a:off x="4546550" y="2581871"/>
            <a:ext cx="1237357" cy="75694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464646"/>
                </a:solidFill>
                <a:latin typeface="Inter Medium" pitchFamily="34" charset="0"/>
                <a:ea typeface="Inter Medium" pitchFamily="34" charset="-122"/>
                <a:cs typeface="Inter Medium" pitchFamily="34" charset="-120"/>
              </a:rPr>
              <a:t>Avoids repeating retrieval work for compatible query refinements.</a:t>
            </a:r>
            <a:endParaRPr lang="en-US" sz="900" dirty="0"/>
          </a:p>
        </p:txBody>
      </p:sp>
      <p:pic>
        <p:nvPicPr>
          <p:cNvPr id="23" name="Image 3" descr="preencoded.png">
            <a:extLst>
              <a:ext uri="{FF2B5EF4-FFF2-40B4-BE49-F238E27FC236}">
                <a16:creationId xmlns:a16="http://schemas.microsoft.com/office/drawing/2014/main" id="{34CDEDA3-D8CE-E2C4-CC48-A3865C0CFD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0" y="1703595"/>
            <a:ext cx="300410" cy="300410"/>
          </a:xfrm>
          <a:prstGeom prst="rect">
            <a:avLst/>
          </a:prstGeom>
        </p:spPr>
      </p:pic>
      <p:sp>
        <p:nvSpPr>
          <p:cNvPr id="25" name="Text 8">
            <a:extLst>
              <a:ext uri="{FF2B5EF4-FFF2-40B4-BE49-F238E27FC236}">
                <a16:creationId xmlns:a16="http://schemas.microsoft.com/office/drawing/2014/main" id="{D2857D31-AAB9-976E-7BD6-2EF6D6008256}"/>
              </a:ext>
            </a:extLst>
          </p:cNvPr>
          <p:cNvSpPr/>
          <p:nvPr/>
        </p:nvSpPr>
        <p:spPr>
          <a:xfrm>
            <a:off x="6096000" y="2149484"/>
            <a:ext cx="1237431" cy="563240"/>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464646"/>
                </a:solidFill>
                <a:latin typeface="DM Sans SemiBold" pitchFamily="34" charset="0"/>
                <a:ea typeface="DM Sans SemiBold" pitchFamily="34" charset="-122"/>
                <a:cs typeface="DM Sans SemiBold" pitchFamily="34" charset="-120"/>
              </a:rPr>
              <a:t>Multi-Intent Evidence Isolation</a:t>
            </a:r>
            <a:endParaRPr lang="en-US" sz="1150" dirty="0"/>
          </a:p>
        </p:txBody>
      </p:sp>
      <p:sp>
        <p:nvSpPr>
          <p:cNvPr id="27" name="Text 9">
            <a:extLst>
              <a:ext uri="{FF2B5EF4-FFF2-40B4-BE49-F238E27FC236}">
                <a16:creationId xmlns:a16="http://schemas.microsoft.com/office/drawing/2014/main" id="{D6E5956D-0E42-2C3E-188D-1CE47864392A}"/>
              </a:ext>
            </a:extLst>
          </p:cNvPr>
          <p:cNvSpPr/>
          <p:nvPr/>
        </p:nvSpPr>
        <p:spPr>
          <a:xfrm>
            <a:off x="6096000" y="2782525"/>
            <a:ext cx="1237431" cy="75694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464646"/>
                </a:solidFill>
                <a:latin typeface="Inter Medium" pitchFamily="34" charset="0"/>
                <a:ea typeface="Inter Medium" pitchFamily="34" charset="-122"/>
                <a:cs typeface="Inter Medium" pitchFamily="34" charset="-120"/>
              </a:rPr>
              <a:t>Each intent receives independent retrieval and evidence selection.</a:t>
            </a:r>
            <a:endParaRPr lang="en-US" sz="900" dirty="0"/>
          </a:p>
        </p:txBody>
      </p:sp>
      <p:pic>
        <p:nvPicPr>
          <p:cNvPr id="29" name="Image 4" descr="preencoded.png">
            <a:extLst>
              <a:ext uri="{FF2B5EF4-FFF2-40B4-BE49-F238E27FC236}">
                <a16:creationId xmlns:a16="http://schemas.microsoft.com/office/drawing/2014/main" id="{9BC1368F-987E-487F-DD68-D45F68A9AB7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56644" y="1703595"/>
            <a:ext cx="344645" cy="300410"/>
          </a:xfrm>
          <a:prstGeom prst="rect">
            <a:avLst/>
          </a:prstGeom>
        </p:spPr>
      </p:pic>
      <p:sp>
        <p:nvSpPr>
          <p:cNvPr id="31" name="Text 10">
            <a:extLst>
              <a:ext uri="{FF2B5EF4-FFF2-40B4-BE49-F238E27FC236}">
                <a16:creationId xmlns:a16="http://schemas.microsoft.com/office/drawing/2014/main" id="{865791A3-8044-15A6-7FBE-F306DB61EE6E}"/>
              </a:ext>
            </a:extLst>
          </p:cNvPr>
          <p:cNvSpPr/>
          <p:nvPr/>
        </p:nvSpPr>
        <p:spPr>
          <a:xfrm>
            <a:off x="7856645" y="2149484"/>
            <a:ext cx="1419556" cy="563240"/>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464646"/>
                </a:solidFill>
                <a:latin typeface="DM Sans SemiBold" pitchFamily="34" charset="0"/>
                <a:ea typeface="DM Sans SemiBold" pitchFamily="34" charset="-122"/>
                <a:cs typeface="DM Sans SemiBold" pitchFamily="34" charset="-120"/>
              </a:rPr>
              <a:t>Evidence Gate + Citation Validation</a:t>
            </a:r>
            <a:endParaRPr lang="en-US" sz="1150" dirty="0"/>
          </a:p>
        </p:txBody>
      </p:sp>
      <p:sp>
        <p:nvSpPr>
          <p:cNvPr id="33" name="Text 11">
            <a:extLst>
              <a:ext uri="{FF2B5EF4-FFF2-40B4-BE49-F238E27FC236}">
                <a16:creationId xmlns:a16="http://schemas.microsoft.com/office/drawing/2014/main" id="{72500EEA-DA3B-C60E-21F0-7FB641645F9D}"/>
              </a:ext>
            </a:extLst>
          </p:cNvPr>
          <p:cNvSpPr/>
          <p:nvPr/>
        </p:nvSpPr>
        <p:spPr>
          <a:xfrm>
            <a:off x="7856645" y="2782525"/>
            <a:ext cx="1419556" cy="567705"/>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464646"/>
                </a:solidFill>
                <a:latin typeface="Inter Medium" pitchFamily="34" charset="0"/>
                <a:ea typeface="Inter Medium" pitchFamily="34" charset="-122"/>
                <a:cs typeface="Inter Medium" pitchFamily="34" charset="-120"/>
              </a:rPr>
              <a:t>Unsupported evidence and invalid citations are blocked.</a:t>
            </a:r>
            <a:endParaRPr lang="en-US" sz="900" dirty="0"/>
          </a:p>
        </p:txBody>
      </p:sp>
      <p:pic>
        <p:nvPicPr>
          <p:cNvPr id="35" name="Image 5" descr="preencoded.png">
            <a:extLst>
              <a:ext uri="{FF2B5EF4-FFF2-40B4-BE49-F238E27FC236}">
                <a16:creationId xmlns:a16="http://schemas.microsoft.com/office/drawing/2014/main" id="{F9A31146-9FC4-9063-0A9A-95BC4A9870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723885" y="1702148"/>
            <a:ext cx="344624" cy="300410"/>
          </a:xfrm>
          <a:prstGeom prst="rect">
            <a:avLst/>
          </a:prstGeom>
        </p:spPr>
      </p:pic>
      <p:sp>
        <p:nvSpPr>
          <p:cNvPr id="37" name="Text 12">
            <a:extLst>
              <a:ext uri="{FF2B5EF4-FFF2-40B4-BE49-F238E27FC236}">
                <a16:creationId xmlns:a16="http://schemas.microsoft.com/office/drawing/2014/main" id="{C6387100-9BF4-EC42-880E-5241FF8C3FCE}"/>
              </a:ext>
            </a:extLst>
          </p:cNvPr>
          <p:cNvSpPr/>
          <p:nvPr/>
        </p:nvSpPr>
        <p:spPr>
          <a:xfrm>
            <a:off x="9687819" y="2257396"/>
            <a:ext cx="1382836" cy="563240"/>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464646"/>
                </a:solidFill>
                <a:latin typeface="DM Sans SemiBold" pitchFamily="34" charset="0"/>
                <a:ea typeface="DM Sans SemiBold" pitchFamily="34" charset="-122"/>
                <a:cs typeface="DM Sans SemiBold" pitchFamily="34" charset="-120"/>
              </a:rPr>
              <a:t>Stale-Generation Protection</a:t>
            </a:r>
            <a:endParaRPr lang="en-US" sz="1150" dirty="0"/>
          </a:p>
        </p:txBody>
      </p:sp>
      <p:sp>
        <p:nvSpPr>
          <p:cNvPr id="39" name="Text 13">
            <a:extLst>
              <a:ext uri="{FF2B5EF4-FFF2-40B4-BE49-F238E27FC236}">
                <a16:creationId xmlns:a16="http://schemas.microsoft.com/office/drawing/2014/main" id="{8536BEF5-84EA-5217-9573-6348F31A217C}"/>
              </a:ext>
            </a:extLst>
          </p:cNvPr>
          <p:cNvSpPr/>
          <p:nvPr/>
        </p:nvSpPr>
        <p:spPr>
          <a:xfrm>
            <a:off x="9723885" y="2781078"/>
            <a:ext cx="1419556" cy="75694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464646"/>
                </a:solidFill>
                <a:latin typeface="Inter Medium" pitchFamily="34" charset="0"/>
                <a:ea typeface="Inter Medium" pitchFamily="34" charset="-122"/>
                <a:cs typeface="Inter Medium" pitchFamily="34" charset="-120"/>
              </a:rPr>
              <a:t>Older asynchronous results cannot overwrite newer query state.</a:t>
            </a:r>
            <a:endParaRPr lang="en-US" sz="900" dirty="0"/>
          </a:p>
        </p:txBody>
      </p:sp>
      <p:sp>
        <p:nvSpPr>
          <p:cNvPr id="54" name="Text 14">
            <a:extLst>
              <a:ext uri="{FF2B5EF4-FFF2-40B4-BE49-F238E27FC236}">
                <a16:creationId xmlns:a16="http://schemas.microsoft.com/office/drawing/2014/main" id="{40F999F4-E247-BCF3-8FDB-1EC54EE2B3D6}"/>
              </a:ext>
            </a:extLst>
          </p:cNvPr>
          <p:cNvSpPr/>
          <p:nvPr/>
        </p:nvSpPr>
        <p:spPr>
          <a:xfrm>
            <a:off x="1236455" y="3983609"/>
            <a:ext cx="3640667" cy="449063"/>
          </a:xfrm>
          <a:prstGeom prst="rect">
            <a:avLst/>
          </a:prstGeom>
          <a:noFill/>
          <a:ln/>
        </p:spPr>
        <p:txBody>
          <a:bodyPr wrap="none" lIns="0" tIns="0" rIns="0" bIns="0" rtlCol="0" anchor="t"/>
          <a:lstStyle/>
          <a:p>
            <a:pPr marL="0" indent="0" algn="l">
              <a:lnSpc>
                <a:spcPct val="104000"/>
              </a:lnSpc>
              <a:buNone/>
            </a:pPr>
            <a:r>
              <a:rPr lang="en-US" sz="1400" b="1" dirty="0">
                <a:solidFill>
                  <a:srgbClr val="030303"/>
                </a:solidFill>
                <a:latin typeface="DM Sans SemiBold" pitchFamily="34" charset="0"/>
                <a:ea typeface="DM Sans SemiBold" pitchFamily="34" charset="-122"/>
                <a:cs typeface="DM Sans SemiBold" pitchFamily="34" charset="-120"/>
              </a:rPr>
              <a:t>Results — Production Benchmark (18 queries)</a:t>
            </a:r>
            <a:endParaRPr lang="en-US" sz="1400" b="1" dirty="0"/>
          </a:p>
        </p:txBody>
      </p:sp>
      <p:sp>
        <p:nvSpPr>
          <p:cNvPr id="56" name="Text 15">
            <a:extLst>
              <a:ext uri="{FF2B5EF4-FFF2-40B4-BE49-F238E27FC236}">
                <a16:creationId xmlns:a16="http://schemas.microsoft.com/office/drawing/2014/main" id="{31848353-007B-EBCE-2FAB-C60396D569B8}"/>
              </a:ext>
            </a:extLst>
          </p:cNvPr>
          <p:cNvSpPr/>
          <p:nvPr/>
        </p:nvSpPr>
        <p:spPr>
          <a:xfrm>
            <a:off x="1236455" y="4345931"/>
            <a:ext cx="2963333" cy="1325563"/>
          </a:xfrm>
          <a:prstGeom prst="rect">
            <a:avLst/>
          </a:prstGeom>
          <a:noFill/>
          <a:ln/>
        </p:spPr>
        <p:txBody>
          <a:bodyPr wrap="square" lIns="0" tIns="0" rIns="0" bIns="0" rtlCol="0" anchor="t">
            <a:normAutofit lnSpcReduction="10000"/>
          </a:bodyPr>
          <a:lstStyle/>
          <a:p>
            <a:pPr marL="182880" indent="-182880" algn="l">
              <a:lnSpc>
                <a:spcPct val="131000"/>
              </a:lnSpc>
              <a:buSzPct val="100000"/>
              <a:buChar char="•"/>
            </a:pPr>
            <a:r>
              <a:rPr lang="en-US" sz="1000" dirty="0">
                <a:solidFill>
                  <a:srgbClr val="464646"/>
                </a:solidFill>
                <a:latin typeface="Inter Medium" pitchFamily="34" charset="0"/>
                <a:ea typeface="Inter Medium" pitchFamily="34" charset="-122"/>
                <a:cs typeface="Inter Medium" pitchFamily="34" charset="-120"/>
              </a:rPr>
              <a:t>Groundedness: 26/29 = 0.897</a:t>
            </a:r>
            <a:endParaRPr lang="en-US" sz="1000" dirty="0"/>
          </a:p>
          <a:p>
            <a:pPr marL="182880" indent="-182880" algn="l">
              <a:lnSpc>
                <a:spcPct val="131000"/>
              </a:lnSpc>
              <a:buSzPct val="100000"/>
              <a:buChar char="•"/>
            </a:pPr>
            <a:r>
              <a:rPr lang="en-US" sz="1000" dirty="0">
                <a:solidFill>
                  <a:srgbClr val="464646"/>
                </a:solidFill>
                <a:latin typeface="Inter Medium" pitchFamily="34" charset="0"/>
                <a:ea typeface="Inter Medium" pitchFamily="34" charset="-122"/>
                <a:cs typeface="Inter Medium" pitchFamily="34" charset="-120"/>
              </a:rPr>
              <a:t>Invalid citations: 0</a:t>
            </a:r>
            <a:endParaRPr lang="en-US" sz="1000" dirty="0"/>
          </a:p>
          <a:p>
            <a:pPr marL="182880" indent="-182880" algn="l">
              <a:lnSpc>
                <a:spcPct val="131000"/>
              </a:lnSpc>
              <a:buSzPct val="100000"/>
              <a:buChar char="•"/>
            </a:pPr>
            <a:r>
              <a:rPr lang="en-US" sz="1000" dirty="0">
                <a:solidFill>
                  <a:srgbClr val="464646"/>
                </a:solidFill>
                <a:latin typeface="Inter Medium" pitchFamily="34" charset="0"/>
                <a:ea typeface="Inter Medium" pitchFamily="34" charset="-122"/>
                <a:cs typeface="Inter Medium" pitchFamily="34" charset="-120"/>
              </a:rPr>
              <a:t>Validator rejections: 0</a:t>
            </a:r>
            <a:endParaRPr lang="en-US" sz="1000" dirty="0"/>
          </a:p>
          <a:p>
            <a:pPr marL="182880" indent="-182880" algn="l">
              <a:lnSpc>
                <a:spcPct val="131000"/>
              </a:lnSpc>
              <a:buSzPct val="100000"/>
              <a:buChar char="•"/>
            </a:pPr>
            <a:r>
              <a:rPr lang="en-US" sz="1000" dirty="0">
                <a:solidFill>
                  <a:srgbClr val="464646"/>
                </a:solidFill>
                <a:latin typeface="Inter Medium" pitchFamily="34" charset="0"/>
                <a:ea typeface="Inter Medium" pitchFamily="34" charset="-122"/>
                <a:cs typeface="Inter Medium" pitchFamily="34" charset="-120"/>
              </a:rPr>
              <a:t>Whole-query refusals: 0</a:t>
            </a:r>
            <a:endParaRPr lang="en-US" sz="1000" dirty="0"/>
          </a:p>
          <a:p>
            <a:pPr marL="182880" indent="-182880" algn="l">
              <a:lnSpc>
                <a:spcPct val="131000"/>
              </a:lnSpc>
              <a:buSzPct val="100000"/>
              <a:buChar char="•"/>
            </a:pPr>
            <a:r>
              <a:rPr lang="en-US" sz="1000" dirty="0">
                <a:solidFill>
                  <a:srgbClr val="464646"/>
                </a:solidFill>
                <a:latin typeface="Inter Medium" pitchFamily="34" charset="0"/>
                <a:ea typeface="Inter Medium" pitchFamily="34" charset="-122"/>
                <a:cs typeface="Inter Medium" pitchFamily="34" charset="-120"/>
              </a:rPr>
              <a:t>Intent-level abstention: 1 query</a:t>
            </a:r>
            <a:endParaRPr lang="en-US" sz="1000" dirty="0"/>
          </a:p>
          <a:p>
            <a:pPr marL="182880" indent="-182880" algn="l">
              <a:lnSpc>
                <a:spcPct val="131000"/>
              </a:lnSpc>
              <a:buSzPct val="100000"/>
              <a:buChar char="•"/>
            </a:pPr>
            <a:r>
              <a:rPr lang="en-US" sz="1000" dirty="0">
                <a:solidFill>
                  <a:srgbClr val="464646"/>
                </a:solidFill>
                <a:latin typeface="Inter Medium" pitchFamily="34" charset="0"/>
                <a:ea typeface="Inter Medium" pitchFamily="34" charset="-122"/>
                <a:cs typeface="Inter Medium" pitchFamily="34" charset="-120"/>
              </a:rPr>
              <a:t>Mean pipeline TTFT: 7.50 s</a:t>
            </a:r>
            <a:endParaRPr lang="en-US" sz="1000" dirty="0"/>
          </a:p>
          <a:p>
            <a:pPr marL="182880" indent="-182880" algn="l">
              <a:lnSpc>
                <a:spcPct val="131000"/>
              </a:lnSpc>
              <a:buSzPct val="100000"/>
              <a:buChar char="•"/>
            </a:pPr>
            <a:r>
              <a:rPr lang="en-US" sz="1000" dirty="0">
                <a:solidFill>
                  <a:srgbClr val="464646"/>
                </a:solidFill>
                <a:latin typeface="Inter Medium" pitchFamily="34" charset="0"/>
                <a:ea typeface="Inter Medium" pitchFamily="34" charset="-122"/>
                <a:cs typeface="Inter Medium" pitchFamily="34" charset="-120"/>
              </a:rPr>
              <a:t>Median pipeline TTFT: 5.70 s</a:t>
            </a:r>
            <a:endParaRPr lang="en-US" sz="1000" dirty="0"/>
          </a:p>
        </p:txBody>
      </p:sp>
      <p:sp>
        <p:nvSpPr>
          <p:cNvPr id="58" name="Text 16">
            <a:extLst>
              <a:ext uri="{FF2B5EF4-FFF2-40B4-BE49-F238E27FC236}">
                <a16:creationId xmlns:a16="http://schemas.microsoft.com/office/drawing/2014/main" id="{57440ABA-FFF5-1159-EFB2-0B9CCC0FADF3}"/>
              </a:ext>
            </a:extLst>
          </p:cNvPr>
          <p:cNvSpPr/>
          <p:nvPr/>
        </p:nvSpPr>
        <p:spPr>
          <a:xfrm>
            <a:off x="5897522" y="3979709"/>
            <a:ext cx="5173133" cy="228431"/>
          </a:xfrm>
          <a:prstGeom prst="rect">
            <a:avLst/>
          </a:prstGeom>
          <a:noFill/>
          <a:ln/>
        </p:spPr>
        <p:txBody>
          <a:bodyPr wrap="none" lIns="0" tIns="0" rIns="0" bIns="0" rtlCol="0" anchor="t"/>
          <a:lstStyle/>
          <a:p>
            <a:pPr marL="0" indent="0" algn="l">
              <a:lnSpc>
                <a:spcPct val="104000"/>
              </a:lnSpc>
              <a:buNone/>
            </a:pPr>
            <a:r>
              <a:rPr lang="en-US" sz="1400" b="1" dirty="0">
                <a:solidFill>
                  <a:srgbClr val="030303"/>
                </a:solidFill>
                <a:latin typeface="DM Sans SemiBold" pitchFamily="34" charset="0"/>
                <a:ea typeface="DM Sans SemiBold" pitchFamily="34" charset="-122"/>
                <a:cs typeface="DM Sans SemiBold" pitchFamily="34" charset="-120"/>
              </a:rPr>
              <a:t>Limitations</a:t>
            </a:r>
            <a:endParaRPr lang="en-US" sz="1400" b="1" dirty="0"/>
          </a:p>
        </p:txBody>
      </p:sp>
      <p:sp>
        <p:nvSpPr>
          <p:cNvPr id="60" name="TextBox 59">
            <a:extLst>
              <a:ext uri="{FF2B5EF4-FFF2-40B4-BE49-F238E27FC236}">
                <a16:creationId xmlns:a16="http://schemas.microsoft.com/office/drawing/2014/main" id="{ABBE72F4-021D-A016-825D-3BCDB8220D41}"/>
              </a:ext>
            </a:extLst>
          </p:cNvPr>
          <p:cNvSpPr txBox="1"/>
          <p:nvPr/>
        </p:nvSpPr>
        <p:spPr>
          <a:xfrm>
            <a:off x="5897522" y="4345931"/>
            <a:ext cx="6096000" cy="881139"/>
          </a:xfrm>
          <a:prstGeom prst="rect">
            <a:avLst/>
          </a:prstGeom>
          <a:noFill/>
        </p:spPr>
        <p:txBody>
          <a:bodyPr wrap="square">
            <a:spAutoFit/>
          </a:bodyPr>
          <a:lstStyle/>
          <a:p>
            <a:pPr marL="182880" indent="-182880" algn="l">
              <a:lnSpc>
                <a:spcPct val="131000"/>
              </a:lnSpc>
              <a:buSzPct val="100000"/>
              <a:buChar char="•"/>
            </a:pPr>
            <a:r>
              <a:rPr lang="en-US" sz="1000" dirty="0">
                <a:solidFill>
                  <a:srgbClr val="464646"/>
                </a:solidFill>
                <a:latin typeface="Inter Medium" pitchFamily="34" charset="0"/>
                <a:ea typeface="Inter Medium" pitchFamily="34" charset="-122"/>
                <a:cs typeface="Inter Medium" pitchFamily="34" charset="-120"/>
              </a:rPr>
              <a:t>Local LLM generation remains the main latency component.</a:t>
            </a:r>
            <a:endParaRPr lang="en-US" sz="1000" dirty="0"/>
          </a:p>
          <a:p>
            <a:pPr marL="182880" indent="-182880" algn="l">
              <a:lnSpc>
                <a:spcPct val="131000"/>
              </a:lnSpc>
              <a:buSzPct val="100000"/>
              <a:buChar char="•"/>
            </a:pPr>
            <a:r>
              <a:rPr lang="en-US" sz="1000" dirty="0">
                <a:solidFill>
                  <a:srgbClr val="464646"/>
                </a:solidFill>
                <a:latin typeface="Inter Medium" pitchFamily="34" charset="0"/>
                <a:ea typeface="Inter Medium" pitchFamily="34" charset="-122"/>
                <a:cs typeface="Inter Medium" pitchFamily="34" charset="-120"/>
              </a:rPr>
              <a:t>Offline retrieval dataset reaches saturated retrieval scores.</a:t>
            </a:r>
            <a:endParaRPr lang="en-US" sz="1000" dirty="0"/>
          </a:p>
          <a:p>
            <a:pPr marL="182880" indent="-182880" algn="l">
              <a:lnSpc>
                <a:spcPct val="131000"/>
              </a:lnSpc>
              <a:buSzPct val="100000"/>
              <a:buChar char="•"/>
            </a:pPr>
            <a:r>
              <a:rPr lang="en-US" sz="1000" dirty="0">
                <a:solidFill>
                  <a:srgbClr val="464646"/>
                </a:solidFill>
                <a:latin typeface="Inter Medium" pitchFamily="34" charset="0"/>
                <a:ea typeface="Inter Medium" pitchFamily="34" charset="-122"/>
                <a:cs typeface="Inter Medium" pitchFamily="34" charset="-120"/>
              </a:rPr>
              <a:t>Current system is CPU-friendly rather than optimized for large-scale GPU serving.</a:t>
            </a:r>
            <a:endParaRPr lang="en-US" sz="1000" dirty="0"/>
          </a:p>
          <a:p>
            <a:pPr marL="182880" indent="-182880" algn="l">
              <a:lnSpc>
                <a:spcPct val="131000"/>
              </a:lnSpc>
              <a:buSzPct val="100000"/>
              <a:buChar char="•"/>
            </a:pPr>
            <a:r>
              <a:rPr lang="en-US" sz="1000" dirty="0">
                <a:solidFill>
                  <a:srgbClr val="464646"/>
                </a:solidFill>
                <a:latin typeface="Inter Medium" pitchFamily="34" charset="0"/>
                <a:ea typeface="Inter Medium" pitchFamily="34" charset="-122"/>
                <a:cs typeface="Inter Medium" pitchFamily="34" charset="-120"/>
              </a:rPr>
              <a:t>Voice quality depends on browser/ASR </a:t>
            </a:r>
            <a:r>
              <a:rPr lang="en-US" sz="1000" dirty="0" err="1">
                <a:solidFill>
                  <a:srgbClr val="464646"/>
                </a:solidFill>
                <a:latin typeface="Inter Medium" pitchFamily="34" charset="0"/>
                <a:ea typeface="Inter Medium" pitchFamily="34" charset="-122"/>
                <a:cs typeface="Inter Medium" pitchFamily="34" charset="-120"/>
              </a:rPr>
              <a:t>behaviour</a:t>
            </a:r>
            <a:r>
              <a:rPr lang="en-US" sz="1000" dirty="0">
                <a:solidFill>
                  <a:srgbClr val="464646"/>
                </a:solidFill>
                <a:latin typeface="Inter Medium" pitchFamily="34" charset="0"/>
                <a:ea typeface="Inter Medium" pitchFamily="34" charset="-122"/>
                <a:cs typeface="Inter Medium" pitchFamily="34" charset="-120"/>
              </a:rPr>
              <a:t>.</a:t>
            </a:r>
            <a:endParaRPr lang="en-US" sz="1000" dirty="0"/>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5" name="Text 1">
            <a:extLst>
              <a:ext uri="{FF2B5EF4-FFF2-40B4-BE49-F238E27FC236}">
                <a16:creationId xmlns:a16="http://schemas.microsoft.com/office/drawing/2014/main" id="{BA4D05DA-608D-7510-0F1C-56E6B2096669}"/>
              </a:ext>
            </a:extLst>
          </p:cNvPr>
          <p:cNvSpPr/>
          <p:nvPr/>
        </p:nvSpPr>
        <p:spPr>
          <a:xfrm>
            <a:off x="953318" y="1437366"/>
            <a:ext cx="8608963" cy="198462"/>
          </a:xfrm>
          <a:prstGeom prst="rect">
            <a:avLst/>
          </a:prstGeom>
          <a:noFill/>
          <a:ln/>
        </p:spPr>
        <p:txBody>
          <a:bodyPr wrap="none" lIns="0" tIns="0" rIns="0" bIns="0" rtlCol="0" anchor="t"/>
          <a:lstStyle/>
          <a:p>
            <a:pPr marL="0" indent="0" algn="l">
              <a:lnSpc>
                <a:spcPct val="133000"/>
              </a:lnSpc>
              <a:buNone/>
            </a:pPr>
            <a:r>
              <a:rPr lang="en-US" sz="1050" b="1" dirty="0">
                <a:solidFill>
                  <a:srgbClr val="464646"/>
                </a:solidFill>
                <a:latin typeface="Inter Bold" pitchFamily="34" charset="0"/>
                <a:ea typeface="Inter Bold" pitchFamily="34" charset="-122"/>
                <a:cs typeface="Inter Bold" pitchFamily="34" charset="-120"/>
              </a:rPr>
              <a:t>Future Improvements</a:t>
            </a:r>
            <a:endParaRPr lang="en-US" sz="1050" dirty="0"/>
          </a:p>
        </p:txBody>
      </p:sp>
      <p:pic>
        <p:nvPicPr>
          <p:cNvPr id="7" name="Image 0" descr="preencoded.png">
            <a:extLst>
              <a:ext uri="{FF2B5EF4-FFF2-40B4-BE49-F238E27FC236}">
                <a16:creationId xmlns:a16="http://schemas.microsoft.com/office/drawing/2014/main" id="{3C93B9AF-6595-84F4-04C7-28FE03AF33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53318" y="1775355"/>
            <a:ext cx="310083" cy="310083"/>
          </a:xfrm>
          <a:prstGeom prst="rect">
            <a:avLst/>
          </a:prstGeom>
        </p:spPr>
      </p:pic>
      <p:sp>
        <p:nvSpPr>
          <p:cNvPr id="9" name="Text 2">
            <a:extLst>
              <a:ext uri="{FF2B5EF4-FFF2-40B4-BE49-F238E27FC236}">
                <a16:creationId xmlns:a16="http://schemas.microsoft.com/office/drawing/2014/main" id="{2E105089-4578-9EF1-D34D-9B3B1DE93589}"/>
              </a:ext>
            </a:extLst>
          </p:cNvPr>
          <p:cNvSpPr/>
          <p:nvPr/>
        </p:nvSpPr>
        <p:spPr>
          <a:xfrm>
            <a:off x="953318" y="2240443"/>
            <a:ext cx="3998342" cy="193849"/>
          </a:xfrm>
          <a:prstGeom prst="rect">
            <a:avLst/>
          </a:prstGeom>
          <a:noFill/>
          <a:ln/>
        </p:spPr>
        <p:txBody>
          <a:bodyPr wrap="none" lIns="0" tIns="0" rIns="0" bIns="0" rtlCol="0" anchor="t"/>
          <a:lstStyle/>
          <a:p>
            <a:pPr marL="0" indent="0" algn="l">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Faster Local Generation</a:t>
            </a:r>
            <a:endParaRPr lang="en-US" sz="1600" dirty="0"/>
          </a:p>
        </p:txBody>
      </p:sp>
      <p:sp>
        <p:nvSpPr>
          <p:cNvPr id="11" name="Text 3">
            <a:extLst>
              <a:ext uri="{FF2B5EF4-FFF2-40B4-BE49-F238E27FC236}">
                <a16:creationId xmlns:a16="http://schemas.microsoft.com/office/drawing/2014/main" id="{6651ADB3-5591-A1E5-FBC9-9ADD5D88F029}"/>
              </a:ext>
            </a:extLst>
          </p:cNvPr>
          <p:cNvSpPr/>
          <p:nvPr/>
        </p:nvSpPr>
        <p:spPr>
          <a:xfrm>
            <a:off x="953318" y="2508705"/>
            <a:ext cx="3998342" cy="198462"/>
          </a:xfrm>
          <a:prstGeom prst="rect">
            <a:avLst/>
          </a:prstGeom>
          <a:noFill/>
          <a:ln/>
        </p:spPr>
        <p:txBody>
          <a:bodyPr wrap="none" lIns="0" tIns="0" rIns="0" bIns="0" rtlCol="0" anchor="t"/>
          <a:lstStyle/>
          <a:p>
            <a:pPr marL="0" indent="0" algn="l">
              <a:lnSpc>
                <a:spcPct val="133000"/>
              </a:lnSpc>
              <a:buNone/>
            </a:pPr>
            <a:r>
              <a:rPr lang="en-US" sz="1050" dirty="0">
                <a:solidFill>
                  <a:srgbClr val="464646"/>
                </a:solidFill>
                <a:latin typeface="Inter Medium" pitchFamily="34" charset="0"/>
                <a:ea typeface="Inter Medium" pitchFamily="34" charset="-122"/>
                <a:cs typeface="Inter Medium" pitchFamily="34" charset="-120"/>
              </a:rPr>
              <a:t>Optimize model loading, inference and token streaming.</a:t>
            </a:r>
            <a:endParaRPr lang="en-US" sz="1050" dirty="0"/>
          </a:p>
        </p:txBody>
      </p:sp>
      <p:pic>
        <p:nvPicPr>
          <p:cNvPr id="13" name="Image 1" descr="preencoded.png">
            <a:extLst>
              <a:ext uri="{FF2B5EF4-FFF2-40B4-BE49-F238E27FC236}">
                <a16:creationId xmlns:a16="http://schemas.microsoft.com/office/drawing/2014/main" id="{6CFC3782-A22F-529E-5BF1-3200C0C479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75064" y="1775355"/>
            <a:ext cx="310083" cy="310083"/>
          </a:xfrm>
          <a:prstGeom prst="rect">
            <a:avLst/>
          </a:prstGeom>
        </p:spPr>
      </p:pic>
      <p:sp>
        <p:nvSpPr>
          <p:cNvPr id="15" name="Text 4">
            <a:extLst>
              <a:ext uri="{FF2B5EF4-FFF2-40B4-BE49-F238E27FC236}">
                <a16:creationId xmlns:a16="http://schemas.microsoft.com/office/drawing/2014/main" id="{B0FFB723-2F1B-28F8-FC90-CEB6501CF08D}"/>
              </a:ext>
            </a:extLst>
          </p:cNvPr>
          <p:cNvSpPr/>
          <p:nvPr/>
        </p:nvSpPr>
        <p:spPr>
          <a:xfrm>
            <a:off x="6275064" y="2240443"/>
            <a:ext cx="3998416" cy="193849"/>
          </a:xfrm>
          <a:prstGeom prst="rect">
            <a:avLst/>
          </a:prstGeom>
          <a:noFill/>
          <a:ln/>
        </p:spPr>
        <p:txBody>
          <a:bodyPr wrap="none" lIns="0" tIns="0" rIns="0" bIns="0" rtlCol="0" anchor="t"/>
          <a:lstStyle/>
          <a:p>
            <a:pPr marL="0" indent="0" algn="l">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Smarter Retrieval Scheduling</a:t>
            </a:r>
            <a:endParaRPr lang="en-US" sz="1600" dirty="0"/>
          </a:p>
        </p:txBody>
      </p:sp>
      <p:sp>
        <p:nvSpPr>
          <p:cNvPr id="17" name="Text 5">
            <a:extLst>
              <a:ext uri="{FF2B5EF4-FFF2-40B4-BE49-F238E27FC236}">
                <a16:creationId xmlns:a16="http://schemas.microsoft.com/office/drawing/2014/main" id="{1AD868C9-A465-DEC4-A5D4-213886E09482}"/>
              </a:ext>
            </a:extLst>
          </p:cNvPr>
          <p:cNvSpPr/>
          <p:nvPr/>
        </p:nvSpPr>
        <p:spPr>
          <a:xfrm>
            <a:off x="6275064" y="2508705"/>
            <a:ext cx="3998416" cy="39692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464646"/>
                </a:solidFill>
                <a:latin typeface="Inter Medium" pitchFamily="34" charset="0"/>
                <a:ea typeface="Inter Medium" pitchFamily="34" charset="-122"/>
                <a:cs typeface="Inter Medium" pitchFamily="34" charset="-120"/>
              </a:rPr>
              <a:t>Improve controller decisions using learned signals while preserving deterministic safeguards.</a:t>
            </a:r>
            <a:endParaRPr lang="en-US" sz="900" dirty="0"/>
          </a:p>
        </p:txBody>
      </p:sp>
      <p:pic>
        <p:nvPicPr>
          <p:cNvPr id="19" name="Image 2" descr="preencoded.png">
            <a:extLst>
              <a:ext uri="{FF2B5EF4-FFF2-40B4-BE49-F238E27FC236}">
                <a16:creationId xmlns:a16="http://schemas.microsoft.com/office/drawing/2014/main" id="{4E435DD1-561E-9212-916A-610A6D5FF5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3318" y="3153652"/>
            <a:ext cx="310083" cy="310083"/>
          </a:xfrm>
          <a:prstGeom prst="rect">
            <a:avLst/>
          </a:prstGeom>
        </p:spPr>
      </p:pic>
      <p:sp>
        <p:nvSpPr>
          <p:cNvPr id="21" name="Text 6">
            <a:extLst>
              <a:ext uri="{FF2B5EF4-FFF2-40B4-BE49-F238E27FC236}">
                <a16:creationId xmlns:a16="http://schemas.microsoft.com/office/drawing/2014/main" id="{86D9617C-1CDB-E111-94E6-D695CEAE9896}"/>
              </a:ext>
            </a:extLst>
          </p:cNvPr>
          <p:cNvSpPr/>
          <p:nvPr/>
        </p:nvSpPr>
        <p:spPr>
          <a:xfrm>
            <a:off x="953318" y="3618740"/>
            <a:ext cx="3998342" cy="193849"/>
          </a:xfrm>
          <a:prstGeom prst="rect">
            <a:avLst/>
          </a:prstGeom>
          <a:noFill/>
          <a:ln/>
        </p:spPr>
        <p:txBody>
          <a:bodyPr wrap="none" lIns="0" tIns="0" rIns="0" bIns="0" rtlCol="0" anchor="t"/>
          <a:lstStyle/>
          <a:p>
            <a:pPr marL="0" indent="0" algn="l">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Adaptive Evidence Budgets</a:t>
            </a:r>
            <a:endParaRPr lang="en-US" sz="1600" dirty="0"/>
          </a:p>
        </p:txBody>
      </p:sp>
      <p:sp>
        <p:nvSpPr>
          <p:cNvPr id="23" name="Text 7">
            <a:extLst>
              <a:ext uri="{FF2B5EF4-FFF2-40B4-BE49-F238E27FC236}">
                <a16:creationId xmlns:a16="http://schemas.microsoft.com/office/drawing/2014/main" id="{796B180C-B642-D49A-01E1-D01527D2A5D0}"/>
              </a:ext>
            </a:extLst>
          </p:cNvPr>
          <p:cNvSpPr/>
          <p:nvPr/>
        </p:nvSpPr>
        <p:spPr>
          <a:xfrm>
            <a:off x="953318" y="3887003"/>
            <a:ext cx="3998342" cy="396925"/>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464646"/>
                </a:solidFill>
                <a:latin typeface="Inter Medium" pitchFamily="34" charset="0"/>
                <a:ea typeface="Inter Medium" pitchFamily="34" charset="-122"/>
                <a:cs typeface="Inter Medium" pitchFamily="34" charset="-120"/>
              </a:rPr>
              <a:t>Dynamically allocate evidence based on query complexity and number of intents.</a:t>
            </a:r>
            <a:endParaRPr lang="en-US" sz="1050" dirty="0"/>
          </a:p>
        </p:txBody>
      </p:sp>
      <p:pic>
        <p:nvPicPr>
          <p:cNvPr id="25" name="Image 3" descr="preencoded.png">
            <a:extLst>
              <a:ext uri="{FF2B5EF4-FFF2-40B4-BE49-F238E27FC236}">
                <a16:creationId xmlns:a16="http://schemas.microsoft.com/office/drawing/2014/main" id="{F78EAA3C-AE4B-D1F2-8A7C-006F8A9A7F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75064" y="3153652"/>
            <a:ext cx="310083" cy="310083"/>
          </a:xfrm>
          <a:prstGeom prst="rect">
            <a:avLst/>
          </a:prstGeom>
        </p:spPr>
      </p:pic>
      <p:sp>
        <p:nvSpPr>
          <p:cNvPr id="27" name="Text 8">
            <a:extLst>
              <a:ext uri="{FF2B5EF4-FFF2-40B4-BE49-F238E27FC236}">
                <a16:creationId xmlns:a16="http://schemas.microsoft.com/office/drawing/2014/main" id="{5144EC0A-A175-6B3C-12A9-07251DFCA4BF}"/>
              </a:ext>
            </a:extLst>
          </p:cNvPr>
          <p:cNvSpPr/>
          <p:nvPr/>
        </p:nvSpPr>
        <p:spPr>
          <a:xfrm>
            <a:off x="6275064" y="3618740"/>
            <a:ext cx="3998416" cy="193849"/>
          </a:xfrm>
          <a:prstGeom prst="rect">
            <a:avLst/>
          </a:prstGeom>
          <a:noFill/>
          <a:ln/>
        </p:spPr>
        <p:txBody>
          <a:bodyPr wrap="none" lIns="0" tIns="0" rIns="0" bIns="0" rtlCol="0" anchor="t"/>
          <a:lstStyle/>
          <a:p>
            <a:pPr marL="0" indent="0" algn="l">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Better Voice Interaction</a:t>
            </a:r>
            <a:endParaRPr lang="en-US" sz="1600" dirty="0"/>
          </a:p>
        </p:txBody>
      </p:sp>
      <p:sp>
        <p:nvSpPr>
          <p:cNvPr id="29" name="Text 9">
            <a:extLst>
              <a:ext uri="{FF2B5EF4-FFF2-40B4-BE49-F238E27FC236}">
                <a16:creationId xmlns:a16="http://schemas.microsoft.com/office/drawing/2014/main" id="{BFD8EF2D-B157-647A-31D2-58EC7C47A2B9}"/>
              </a:ext>
            </a:extLst>
          </p:cNvPr>
          <p:cNvSpPr/>
          <p:nvPr/>
        </p:nvSpPr>
        <p:spPr>
          <a:xfrm>
            <a:off x="6275064" y="3887003"/>
            <a:ext cx="3998416" cy="396925"/>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464646"/>
                </a:solidFill>
                <a:latin typeface="Inter Medium" pitchFamily="34" charset="0"/>
                <a:ea typeface="Inter Medium" pitchFamily="34" charset="-122"/>
                <a:cs typeface="Inter Medium" pitchFamily="34" charset="-120"/>
              </a:rPr>
              <a:t>Improve ASR robustness, interruption handling and conversational turn-taking.</a:t>
            </a:r>
            <a:endParaRPr lang="en-US" sz="1050" dirty="0"/>
          </a:p>
        </p:txBody>
      </p:sp>
      <p:pic>
        <p:nvPicPr>
          <p:cNvPr id="31" name="Image 4" descr="preencoded.png">
            <a:extLst>
              <a:ext uri="{FF2B5EF4-FFF2-40B4-BE49-F238E27FC236}">
                <a16:creationId xmlns:a16="http://schemas.microsoft.com/office/drawing/2014/main" id="{5DE6E1DA-A4BE-C39D-44F6-9EAD7C35631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3318" y="4531949"/>
            <a:ext cx="310083" cy="310083"/>
          </a:xfrm>
          <a:prstGeom prst="rect">
            <a:avLst/>
          </a:prstGeom>
        </p:spPr>
      </p:pic>
      <p:sp>
        <p:nvSpPr>
          <p:cNvPr id="33" name="Text 10">
            <a:extLst>
              <a:ext uri="{FF2B5EF4-FFF2-40B4-BE49-F238E27FC236}">
                <a16:creationId xmlns:a16="http://schemas.microsoft.com/office/drawing/2014/main" id="{A230E0AA-41A5-5F52-5541-5915B5A558C7}"/>
              </a:ext>
            </a:extLst>
          </p:cNvPr>
          <p:cNvSpPr/>
          <p:nvPr/>
        </p:nvSpPr>
        <p:spPr>
          <a:xfrm>
            <a:off x="953318" y="4997037"/>
            <a:ext cx="3998342" cy="193849"/>
          </a:xfrm>
          <a:prstGeom prst="rect">
            <a:avLst/>
          </a:prstGeom>
          <a:noFill/>
          <a:ln/>
        </p:spPr>
        <p:txBody>
          <a:bodyPr wrap="none" lIns="0" tIns="0" rIns="0" bIns="0" rtlCol="0" anchor="t"/>
          <a:lstStyle/>
          <a:p>
            <a:pPr marL="0" indent="0" algn="l">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Production Scaling</a:t>
            </a:r>
            <a:endParaRPr lang="en-US" sz="1600" dirty="0"/>
          </a:p>
        </p:txBody>
      </p:sp>
      <p:sp>
        <p:nvSpPr>
          <p:cNvPr id="35" name="Text 11">
            <a:extLst>
              <a:ext uri="{FF2B5EF4-FFF2-40B4-BE49-F238E27FC236}">
                <a16:creationId xmlns:a16="http://schemas.microsoft.com/office/drawing/2014/main" id="{63A5B7C7-25CF-CDB5-3ADA-BF79FE199F1D}"/>
              </a:ext>
            </a:extLst>
          </p:cNvPr>
          <p:cNvSpPr/>
          <p:nvPr/>
        </p:nvSpPr>
        <p:spPr>
          <a:xfrm>
            <a:off x="953318" y="5265300"/>
            <a:ext cx="3998342" cy="39692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464646"/>
                </a:solidFill>
                <a:latin typeface="Inter Medium" pitchFamily="34" charset="0"/>
                <a:ea typeface="Inter Medium" pitchFamily="34" charset="-122"/>
                <a:cs typeface="Inter Medium" pitchFamily="34" charset="-120"/>
              </a:rPr>
              <a:t>Move from local single-machine execution toward scalable distributed retrieval and inference.</a:t>
            </a:r>
            <a:endParaRPr lang="en-US" sz="900" dirty="0"/>
          </a:p>
        </p:txBody>
      </p:sp>
      <p:pic>
        <p:nvPicPr>
          <p:cNvPr id="37" name="Image 5" descr="preencoded.png">
            <a:extLst>
              <a:ext uri="{FF2B5EF4-FFF2-40B4-BE49-F238E27FC236}">
                <a16:creationId xmlns:a16="http://schemas.microsoft.com/office/drawing/2014/main" id="{8E773F68-1453-E37C-E98F-13177DBB7E0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75064" y="4531949"/>
            <a:ext cx="310083" cy="310083"/>
          </a:xfrm>
          <a:prstGeom prst="rect">
            <a:avLst/>
          </a:prstGeom>
        </p:spPr>
      </p:pic>
      <p:sp>
        <p:nvSpPr>
          <p:cNvPr id="39" name="Text 12">
            <a:extLst>
              <a:ext uri="{FF2B5EF4-FFF2-40B4-BE49-F238E27FC236}">
                <a16:creationId xmlns:a16="http://schemas.microsoft.com/office/drawing/2014/main" id="{7204E4C2-08C5-D336-48D2-3BBF79B38CF0}"/>
              </a:ext>
            </a:extLst>
          </p:cNvPr>
          <p:cNvSpPr/>
          <p:nvPr/>
        </p:nvSpPr>
        <p:spPr>
          <a:xfrm>
            <a:off x="6275064" y="4997037"/>
            <a:ext cx="3998416" cy="193849"/>
          </a:xfrm>
          <a:prstGeom prst="rect">
            <a:avLst/>
          </a:prstGeom>
          <a:noFill/>
          <a:ln/>
        </p:spPr>
        <p:txBody>
          <a:bodyPr wrap="none" lIns="0" tIns="0" rIns="0" bIns="0" rtlCol="0" anchor="t"/>
          <a:lstStyle/>
          <a:p>
            <a:pPr marL="0" indent="0" algn="l">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Larger Evaluation</a:t>
            </a:r>
            <a:endParaRPr lang="en-US" sz="1600" dirty="0"/>
          </a:p>
        </p:txBody>
      </p:sp>
      <p:sp>
        <p:nvSpPr>
          <p:cNvPr id="41" name="Text 13">
            <a:extLst>
              <a:ext uri="{FF2B5EF4-FFF2-40B4-BE49-F238E27FC236}">
                <a16:creationId xmlns:a16="http://schemas.microsoft.com/office/drawing/2014/main" id="{B08ADACC-B188-4B79-2202-807FC2AD7855}"/>
              </a:ext>
            </a:extLst>
          </p:cNvPr>
          <p:cNvSpPr/>
          <p:nvPr/>
        </p:nvSpPr>
        <p:spPr>
          <a:xfrm>
            <a:off x="6275064" y="5265300"/>
            <a:ext cx="3998416" cy="396925"/>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464646"/>
                </a:solidFill>
                <a:latin typeface="Inter Medium" pitchFamily="34" charset="0"/>
                <a:ea typeface="Inter Medium" pitchFamily="34" charset="-122"/>
                <a:cs typeface="Inter Medium" pitchFamily="34" charset="-120"/>
              </a:rPr>
              <a:t>Evaluate across larger corpora, longer conversations and more complex multi-intent queries.</a:t>
            </a:r>
            <a:endParaRPr lang="en-US" sz="1050" dirty="0"/>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5" name="TextBox 4">
            <a:extLst>
              <a:ext uri="{FF2B5EF4-FFF2-40B4-BE49-F238E27FC236}">
                <a16:creationId xmlns:a16="http://schemas.microsoft.com/office/drawing/2014/main" id="{FCDD4396-ADBB-88CC-B793-25F030AD000B}"/>
              </a:ext>
            </a:extLst>
          </p:cNvPr>
          <p:cNvSpPr txBox="1"/>
          <p:nvPr/>
        </p:nvSpPr>
        <p:spPr>
          <a:xfrm>
            <a:off x="838200" y="1435810"/>
            <a:ext cx="6096000" cy="254878"/>
          </a:xfrm>
          <a:prstGeom prst="rect">
            <a:avLst/>
          </a:prstGeom>
          <a:noFill/>
        </p:spPr>
        <p:txBody>
          <a:bodyPr wrap="square">
            <a:spAutoFit/>
          </a:bodyPr>
          <a:lstStyle/>
          <a:p>
            <a:pPr marL="0" indent="0" algn="l">
              <a:lnSpc>
                <a:spcPct val="128000"/>
              </a:lnSpc>
              <a:buNone/>
            </a:pPr>
            <a:r>
              <a:rPr lang="en-US" sz="900" b="1" dirty="0">
                <a:solidFill>
                  <a:srgbClr val="464646"/>
                </a:solidFill>
                <a:latin typeface="Inter Bold" pitchFamily="34" charset="0"/>
                <a:ea typeface="Inter Bold" pitchFamily="34" charset="-122"/>
                <a:cs typeface="Inter Bold" pitchFamily="34" charset="-120"/>
              </a:rPr>
              <a:t>Why Streaming-Live-RAG is Different</a:t>
            </a:r>
            <a:endParaRPr lang="en-US" sz="900" dirty="0"/>
          </a:p>
        </p:txBody>
      </p:sp>
      <p:graphicFrame>
        <p:nvGraphicFramePr>
          <p:cNvPr id="7" name="Table 0">
            <a:extLst>
              <a:ext uri="{FF2B5EF4-FFF2-40B4-BE49-F238E27FC236}">
                <a16:creationId xmlns:a16="http://schemas.microsoft.com/office/drawing/2014/main" id="{B7DFEA21-712D-0DBE-8568-31BE6294BD2E}"/>
              </a:ext>
            </a:extLst>
          </p:cNvPr>
          <p:cNvGraphicFramePr>
            <a:graphicFrameLocks noGrp="1"/>
          </p:cNvGraphicFramePr>
          <p:nvPr>
            <p:extLst>
              <p:ext uri="{D42A27DB-BD31-4B8C-83A1-F6EECF244321}">
                <p14:modId xmlns:p14="http://schemas.microsoft.com/office/powerpoint/2010/main" val="12592016"/>
              </p:ext>
            </p:extLst>
          </p:nvPr>
        </p:nvGraphicFramePr>
        <p:xfrm>
          <a:off x="838200" y="1894359"/>
          <a:ext cx="8151762" cy="2844926"/>
        </p:xfrm>
        <a:graphic>
          <a:graphicData uri="http://schemas.openxmlformats.org/drawingml/2006/table">
            <a:tbl>
              <a:tblPr/>
              <a:tblGrid>
                <a:gridCol w="4075881">
                  <a:extLst>
                    <a:ext uri="{9D8B030D-6E8A-4147-A177-3AD203B41FA5}">
                      <a16:colId xmlns:a16="http://schemas.microsoft.com/office/drawing/2014/main" val="20000"/>
                    </a:ext>
                  </a:extLst>
                </a:gridCol>
                <a:gridCol w="4075881">
                  <a:extLst>
                    <a:ext uri="{9D8B030D-6E8A-4147-A177-3AD203B41FA5}">
                      <a16:colId xmlns:a16="http://schemas.microsoft.com/office/drawing/2014/main" val="20001"/>
                    </a:ext>
                  </a:extLst>
                </a:gridCol>
              </a:tblGrid>
              <a:tr h="314251">
                <a:tc>
                  <a:txBody>
                    <a:bodyPr/>
                    <a:lstStyle/>
                    <a:p>
                      <a:pPr marL="0" indent="0">
                        <a:buNone/>
                      </a:pPr>
                      <a:r>
                        <a:rPr lang="en-US" sz="1400" b="1" dirty="0">
                          <a:solidFill>
                            <a:srgbClr val="464646"/>
                          </a:solidFill>
                          <a:latin typeface="Inter" pitchFamily="34" charset="0"/>
                          <a:ea typeface="Inter" pitchFamily="34" charset="-122"/>
                          <a:cs typeface="Inter" pitchFamily="34" charset="-120"/>
                        </a:rPr>
                        <a:t>Conventional RAG</a:t>
                      </a:r>
                      <a:endParaRPr lang="en-US" sz="1400" b="1"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buNone/>
                      </a:pPr>
                      <a:r>
                        <a:rPr lang="en-US" sz="1400" b="1" dirty="0">
                          <a:solidFill>
                            <a:srgbClr val="464646"/>
                          </a:solidFill>
                          <a:latin typeface="Inter" pitchFamily="34" charset="0"/>
                          <a:ea typeface="Inter" pitchFamily="34" charset="-122"/>
                          <a:cs typeface="Inter" pitchFamily="34" charset="-120"/>
                        </a:rPr>
                        <a:t>Streaming-Live-RAG</a:t>
                      </a:r>
                      <a:endParaRPr lang="en-US" sz="1400" b="1"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0"/>
                  </a:ext>
                </a:extLst>
              </a:tr>
              <a:tr h="316632">
                <a:tc>
                  <a:txBody>
                    <a:bodyPr/>
                    <a:lstStyle/>
                    <a:p>
                      <a:pPr marL="0" indent="0">
                        <a:buNone/>
                      </a:pPr>
                      <a:r>
                        <a:rPr lang="en-US" sz="1100" dirty="0">
                          <a:solidFill>
                            <a:srgbClr val="464646"/>
                          </a:solidFill>
                          <a:latin typeface="Inter" pitchFamily="34" charset="0"/>
                          <a:ea typeface="Inter" pitchFamily="34" charset="-122"/>
                          <a:cs typeface="Inter" pitchFamily="34" charset="-120"/>
                        </a:rPr>
                        <a:t>Waits for complete query</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buNone/>
                      </a:pPr>
                      <a:r>
                        <a:rPr lang="en-US" sz="1100" dirty="0">
                          <a:solidFill>
                            <a:srgbClr val="464646"/>
                          </a:solidFill>
                          <a:latin typeface="Inter" pitchFamily="34" charset="0"/>
                          <a:ea typeface="Inter" pitchFamily="34" charset="-122"/>
                          <a:cs typeface="Inter" pitchFamily="34" charset="-120"/>
                        </a:rPr>
                        <a:t>Retrieves during speech</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1"/>
                  </a:ext>
                </a:extLst>
              </a:tr>
              <a:tr h="316632">
                <a:tc>
                  <a:txBody>
                    <a:bodyPr/>
                    <a:lstStyle/>
                    <a:p>
                      <a:pPr marL="0" indent="0">
                        <a:buNone/>
                      </a:pPr>
                      <a:r>
                        <a:rPr lang="en-US" sz="1100" dirty="0">
                          <a:solidFill>
                            <a:srgbClr val="464646"/>
                          </a:solidFill>
                          <a:latin typeface="Inter" pitchFamily="34" charset="0"/>
                          <a:ea typeface="Inter" pitchFamily="34" charset="-122"/>
                          <a:cs typeface="Inter" pitchFamily="34" charset="-120"/>
                        </a:rPr>
                        <a:t>Retrieves after commit</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buNone/>
                      </a:pPr>
                      <a:r>
                        <a:rPr lang="en-US" sz="1100" dirty="0">
                          <a:solidFill>
                            <a:srgbClr val="464646"/>
                          </a:solidFill>
                          <a:latin typeface="Inter" pitchFamily="34" charset="0"/>
                          <a:ea typeface="Inter" pitchFamily="34" charset="-122"/>
                          <a:cs typeface="Inter" pitchFamily="34" charset="-120"/>
                        </a:rPr>
                        <a:t>Early retrieval preparation</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2"/>
                  </a:ext>
                </a:extLst>
              </a:tr>
              <a:tr h="316632">
                <a:tc>
                  <a:txBody>
                    <a:bodyPr/>
                    <a:lstStyle/>
                    <a:p>
                      <a:pPr marL="0" indent="0">
                        <a:buNone/>
                      </a:pPr>
                      <a:r>
                        <a:rPr lang="en-US" sz="1100" dirty="0">
                          <a:solidFill>
                            <a:srgbClr val="464646"/>
                          </a:solidFill>
                          <a:latin typeface="Inter" pitchFamily="34" charset="0"/>
                          <a:ea typeface="Inter" pitchFamily="34" charset="-122"/>
                          <a:cs typeface="Inter" pitchFamily="34" charset="-120"/>
                        </a:rPr>
                        <a:t>Repeats retrieval</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defTabSz="914400" rtl="0" eaLnBrk="1" latinLnBrk="0" hangingPunct="1">
                        <a:buNone/>
                      </a:pPr>
                      <a:r>
                        <a:rPr lang="en-US" sz="1100" kern="1200" dirty="0">
                          <a:solidFill>
                            <a:srgbClr val="464646"/>
                          </a:solidFill>
                          <a:latin typeface="Inter" pitchFamily="34" charset="0"/>
                          <a:ea typeface="Inter" pitchFamily="34" charset="-122"/>
                          <a:cs typeface="Inter" pitchFamily="34" charset="-120"/>
                        </a:rPr>
                        <a:t>Reuses compatible evidence</a:t>
                      </a:r>
                      <a:endParaRPr lang="en-US" sz="1100" kern="1200" dirty="0">
                        <a:solidFill>
                          <a:srgbClr val="464646"/>
                        </a:solidFill>
                        <a:latin typeface="Inter" pitchFamily="34" charset="0"/>
                        <a:ea typeface="Inter" pitchFamily="34" charset="-122"/>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3"/>
                  </a:ext>
                </a:extLst>
              </a:tr>
              <a:tr h="316632">
                <a:tc>
                  <a:txBody>
                    <a:bodyPr/>
                    <a:lstStyle/>
                    <a:p>
                      <a:pPr marL="0" indent="0">
                        <a:buNone/>
                      </a:pPr>
                      <a:r>
                        <a:rPr lang="en-US" sz="1100" dirty="0">
                          <a:solidFill>
                            <a:srgbClr val="464646"/>
                          </a:solidFill>
                          <a:latin typeface="Inter" pitchFamily="34" charset="0"/>
                          <a:ea typeface="Inter" pitchFamily="34" charset="-122"/>
                          <a:cs typeface="Inter" pitchFamily="34" charset="-120"/>
                        </a:rPr>
                        <a:t>One query → one retrieval</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buNone/>
                      </a:pPr>
                      <a:r>
                        <a:rPr lang="en-US" sz="1100" dirty="0">
                          <a:solidFill>
                            <a:srgbClr val="464646"/>
                          </a:solidFill>
                          <a:latin typeface="Inter" pitchFamily="34" charset="0"/>
                          <a:ea typeface="Inter" pitchFamily="34" charset="-122"/>
                          <a:cs typeface="Inter" pitchFamily="34" charset="-120"/>
                        </a:rPr>
                        <a:t>NEW / ADDITIVE / REPLACEMENT handling</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4"/>
                  </a:ext>
                </a:extLst>
              </a:tr>
              <a:tr h="316632">
                <a:tc>
                  <a:txBody>
                    <a:bodyPr/>
                    <a:lstStyle/>
                    <a:p>
                      <a:pPr marL="0" indent="0">
                        <a:buNone/>
                      </a:pPr>
                      <a:r>
                        <a:rPr lang="en-US" sz="1100" dirty="0">
                          <a:solidFill>
                            <a:srgbClr val="464646"/>
                          </a:solidFill>
                          <a:latin typeface="Inter" pitchFamily="34" charset="0"/>
                          <a:ea typeface="Inter" pitchFamily="34" charset="-122"/>
                          <a:cs typeface="Inter" pitchFamily="34" charset="-120"/>
                        </a:rPr>
                        <a:t>One evidence pool</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buNone/>
                      </a:pPr>
                      <a:r>
                        <a:rPr lang="en-US" sz="1100" dirty="0">
                          <a:solidFill>
                            <a:srgbClr val="464646"/>
                          </a:solidFill>
                          <a:latin typeface="Inter" pitchFamily="34" charset="0"/>
                          <a:ea typeface="Inter" pitchFamily="34" charset="-122"/>
                          <a:cs typeface="Inter" pitchFamily="34" charset="-120"/>
                        </a:rPr>
                        <a:t>Per-intent evidence isolation</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5"/>
                  </a:ext>
                </a:extLst>
              </a:tr>
              <a:tr h="316632">
                <a:tc>
                  <a:txBody>
                    <a:bodyPr/>
                    <a:lstStyle/>
                    <a:p>
                      <a:pPr marL="0" indent="0">
                        <a:buNone/>
                      </a:pPr>
                      <a:r>
                        <a:rPr lang="en-US" sz="1100" dirty="0">
                          <a:solidFill>
                            <a:srgbClr val="464646"/>
                          </a:solidFill>
                          <a:latin typeface="Inter" pitchFamily="34" charset="0"/>
                          <a:ea typeface="Inter" pitchFamily="34" charset="-122"/>
                          <a:cs typeface="Inter" pitchFamily="34" charset="-120"/>
                        </a:rPr>
                        <a:t>Static pipeline</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buNone/>
                      </a:pPr>
                      <a:r>
                        <a:rPr lang="en-US" sz="1100" dirty="0">
                          <a:solidFill>
                            <a:srgbClr val="464646"/>
                          </a:solidFill>
                          <a:latin typeface="Inter" pitchFamily="34" charset="0"/>
                          <a:ea typeface="Inter" pitchFamily="34" charset="-122"/>
                          <a:cs typeface="Inter" pitchFamily="34" charset="-120"/>
                        </a:rPr>
                        <a:t>Streaming-aware controller</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6"/>
                  </a:ext>
                </a:extLst>
              </a:tr>
              <a:tr h="316632">
                <a:tc>
                  <a:txBody>
                    <a:bodyPr/>
                    <a:lstStyle/>
                    <a:p>
                      <a:pPr marL="0" indent="0">
                        <a:buNone/>
                      </a:pPr>
                      <a:r>
                        <a:rPr lang="en-US" sz="1100" dirty="0">
                          <a:solidFill>
                            <a:srgbClr val="464646"/>
                          </a:solidFill>
                          <a:latin typeface="Inter" pitchFamily="34" charset="0"/>
                          <a:ea typeface="Inter" pitchFamily="34" charset="-122"/>
                          <a:cs typeface="Inter" pitchFamily="34" charset="-120"/>
                        </a:rPr>
                        <a:t>Generation can race with updates</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buNone/>
                      </a:pPr>
                      <a:r>
                        <a:rPr lang="en-US" sz="1100" dirty="0">
                          <a:solidFill>
                            <a:srgbClr val="464646"/>
                          </a:solidFill>
                          <a:latin typeface="Inter" pitchFamily="34" charset="0"/>
                          <a:ea typeface="Inter" pitchFamily="34" charset="-122"/>
                          <a:cs typeface="Inter" pitchFamily="34" charset="-120"/>
                        </a:rPr>
                        <a:t>Generation IDs prevent stale results</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7"/>
                  </a:ext>
                </a:extLst>
              </a:tr>
              <a:tr h="314251">
                <a:tc>
                  <a:txBody>
                    <a:bodyPr/>
                    <a:lstStyle/>
                    <a:p>
                      <a:pPr marL="0" indent="0">
                        <a:buNone/>
                      </a:pPr>
                      <a:r>
                        <a:rPr lang="en-US" sz="1100" dirty="0">
                          <a:solidFill>
                            <a:srgbClr val="464646"/>
                          </a:solidFill>
                          <a:latin typeface="Inter" pitchFamily="34" charset="0"/>
                          <a:ea typeface="Inter" pitchFamily="34" charset="-122"/>
                          <a:cs typeface="Inter" pitchFamily="34" charset="-120"/>
                        </a:rPr>
                        <a:t>Citation checking after generation</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buNone/>
                      </a:pPr>
                      <a:r>
                        <a:rPr lang="en-US" sz="1100" dirty="0">
                          <a:solidFill>
                            <a:srgbClr val="464646"/>
                          </a:solidFill>
                          <a:latin typeface="Inter" pitchFamily="34" charset="0"/>
                          <a:ea typeface="Inter" pitchFamily="34" charset="-122"/>
                          <a:cs typeface="Inter" pitchFamily="34" charset="-120"/>
                        </a:rPr>
                        <a:t>Evidence gate + citation validation</a:t>
                      </a:r>
                      <a:endParaRPr lang="en-US" sz="1100" dirty="0">
                        <a:latin typeface="Inter" charset="0"/>
                        <a:ea typeface="Inter" charset="0"/>
                        <a:cs typeface="Inter" charset="0"/>
                      </a:endParaRPr>
                    </a:p>
                  </a:txBody>
                  <a:tcPr marL="114355" marR="114355" marT="4763" marB="4763"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9" name="Text 2">
            <a:extLst>
              <a:ext uri="{FF2B5EF4-FFF2-40B4-BE49-F238E27FC236}">
                <a16:creationId xmlns:a16="http://schemas.microsoft.com/office/drawing/2014/main" id="{10B81C32-764A-AAAC-DF39-D8281A398029}"/>
              </a:ext>
            </a:extLst>
          </p:cNvPr>
          <p:cNvSpPr/>
          <p:nvPr/>
        </p:nvSpPr>
        <p:spPr>
          <a:xfrm>
            <a:off x="1009724" y="4985891"/>
            <a:ext cx="7980238" cy="883146"/>
          </a:xfrm>
          <a:prstGeom prst="rect">
            <a:avLst/>
          </a:prstGeom>
          <a:noFill/>
          <a:ln/>
        </p:spPr>
        <p:txBody>
          <a:bodyPr wrap="square" lIns="0" tIns="0" rIns="0" bIns="0" rtlCol="0" anchor="t"/>
          <a:lstStyle/>
          <a:p>
            <a:pPr marL="0" indent="0" algn="l">
              <a:lnSpc>
                <a:spcPct val="128000"/>
              </a:lnSpc>
              <a:spcAft>
                <a:spcPts val="900"/>
              </a:spcAft>
              <a:buNone/>
            </a:pPr>
            <a:r>
              <a:rPr lang="en-US" sz="1050" b="1" dirty="0">
                <a:solidFill>
                  <a:srgbClr val="464646"/>
                </a:solidFill>
                <a:latin typeface="Inter Bold" pitchFamily="34" charset="0"/>
                <a:ea typeface="Inter Bold" pitchFamily="34" charset="-122"/>
                <a:cs typeface="Inter Bold" pitchFamily="34" charset="-120"/>
              </a:rPr>
              <a:t>Core Differentiator</a:t>
            </a:r>
            <a:endParaRPr lang="en-US" sz="1050" dirty="0"/>
          </a:p>
          <a:p>
            <a:pPr marL="0" indent="0" algn="l">
              <a:lnSpc>
                <a:spcPct val="128000"/>
              </a:lnSpc>
              <a:spcAft>
                <a:spcPts val="900"/>
              </a:spcAft>
              <a:buNone/>
            </a:pPr>
            <a:r>
              <a:rPr lang="en-US" sz="1050" dirty="0">
                <a:solidFill>
                  <a:srgbClr val="464646"/>
                </a:solidFill>
                <a:latin typeface="Inter Medium" pitchFamily="34" charset="0"/>
                <a:ea typeface="Inter Medium" pitchFamily="34" charset="-122"/>
                <a:cs typeface="Inter Medium" pitchFamily="34" charset="-120"/>
              </a:rPr>
              <a:t>We are not simply making RAG faster.</a:t>
            </a:r>
            <a:endParaRPr lang="en-US" sz="1050" dirty="0"/>
          </a:p>
          <a:p>
            <a:pPr marL="0" indent="0" algn="l">
              <a:lnSpc>
                <a:spcPct val="128000"/>
              </a:lnSpc>
              <a:buNone/>
            </a:pPr>
            <a:r>
              <a:rPr lang="en-US" sz="1050" dirty="0">
                <a:solidFill>
                  <a:srgbClr val="464646"/>
                </a:solidFill>
                <a:latin typeface="Inter Medium" pitchFamily="34" charset="0"/>
                <a:ea typeface="Inter Medium" pitchFamily="34" charset="-122"/>
                <a:cs typeface="Inter Medium" pitchFamily="34" charset="-120"/>
              </a:rPr>
              <a:t>We are making RAG aware of how a live query evolves over time.</a:t>
            </a:r>
            <a:endParaRPr lang="en-US" sz="1050" dirty="0"/>
          </a:p>
        </p:txBody>
      </p:sp>
      <p:sp>
        <p:nvSpPr>
          <p:cNvPr id="11" name="Shape 3">
            <a:extLst>
              <a:ext uri="{FF2B5EF4-FFF2-40B4-BE49-F238E27FC236}">
                <a16:creationId xmlns:a16="http://schemas.microsoft.com/office/drawing/2014/main" id="{DF4A2A0E-B349-E25D-A7FA-EF84E27D9B48}"/>
              </a:ext>
            </a:extLst>
          </p:cNvPr>
          <p:cNvSpPr/>
          <p:nvPr/>
        </p:nvSpPr>
        <p:spPr>
          <a:xfrm>
            <a:off x="838200" y="4867349"/>
            <a:ext cx="14288" cy="1001688"/>
          </a:xfrm>
          <a:prstGeom prst="roundRect">
            <a:avLst>
              <a:gd name="adj" fmla="val 49998"/>
            </a:avLst>
          </a:prstGeom>
          <a:solidFill>
            <a:srgbClr val="1C9770"/>
          </a:solidFill>
          <a:ln/>
        </p:spPr>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pPr>
            <a:r>
              <a:rPr lang="en-US" sz="2800" dirty="0">
                <a:solidFill>
                  <a:srgbClr val="63637E"/>
                </a:solidFill>
                <a:latin typeface="Calibri" pitchFamily="34" charset="0"/>
                <a:ea typeface="Calibri" pitchFamily="34" charset="-122"/>
                <a:cs typeface="Calibri" pitchFamily="34" charset="-120"/>
              </a:rPr>
              <a:t>Working prototype code —</a:t>
            </a:r>
            <a:r>
              <a:rPr lang="en-IN" b="1" dirty="0">
                <a:solidFill>
                  <a:srgbClr val="63637E"/>
                </a:solidFill>
                <a:latin typeface="Calibri" pitchFamily="34" charset="0"/>
                <a:ea typeface="Calibri" pitchFamily="34" charset="-122"/>
                <a:cs typeface="Calibri" pitchFamily="34" charset="-120"/>
              </a:rPr>
              <a:t>Public GitHub (YES ✓)</a:t>
            </a:r>
            <a:endParaRPr lang="en-US" b="1"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pPr>
            <a:r>
              <a:rPr lang="en-US" sz="2800" dirty="0">
                <a:solidFill>
                  <a:srgbClr val="63637E"/>
                </a:solidFill>
                <a:latin typeface="Calibri" pitchFamily="34" charset="0"/>
                <a:ea typeface="Calibri" pitchFamily="34" charset="-122"/>
                <a:cs typeface="Calibri" pitchFamily="34" charset="-120"/>
              </a:rPr>
              <a:t>README with reproducible setup instructions </a:t>
            </a:r>
            <a:r>
              <a:rPr lang="en-IN" b="1" dirty="0">
                <a:solidFill>
                  <a:srgbClr val="63637E"/>
                </a:solidFill>
                <a:latin typeface="Calibri" pitchFamily="34" charset="0"/>
                <a:ea typeface="Calibri" pitchFamily="34" charset="-122"/>
                <a:cs typeface="Calibri" pitchFamily="34" charset="-120"/>
              </a:rPr>
              <a:t>(YES ✓)</a:t>
            </a:r>
            <a:endParaRPr lang="en-US" b="1"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pPr>
            <a:r>
              <a:rPr lang="en-US" sz="2800" dirty="0">
                <a:solidFill>
                  <a:srgbClr val="63637E"/>
                </a:solidFill>
                <a:latin typeface="Calibri" pitchFamily="34" charset="0"/>
                <a:ea typeface="Calibri" pitchFamily="34" charset="-122"/>
                <a:cs typeface="Calibri" pitchFamily="34" charset="-120"/>
              </a:rPr>
              <a:t>Demo video, max 5 minutes </a:t>
            </a:r>
            <a:r>
              <a:rPr lang="en-US" b="1" dirty="0">
                <a:solidFill>
                  <a:srgbClr val="63637E"/>
                </a:solidFill>
                <a:latin typeface="Calibri" pitchFamily="34" charset="0"/>
                <a:ea typeface="Calibri" pitchFamily="34" charset="-122"/>
                <a:cs typeface="Calibri" pitchFamily="34" charset="-120"/>
              </a:rPr>
              <a:t>(</a:t>
            </a:r>
            <a:r>
              <a:rPr lang="en-US" sz="1800" b="1" dirty="0">
                <a:solidFill>
                  <a:srgbClr val="63637E"/>
                </a:solidFill>
                <a:latin typeface="Calibri" pitchFamily="34" charset="0"/>
                <a:ea typeface="Calibri" pitchFamily="34" charset="-122"/>
                <a:cs typeface="Calibri" pitchFamily="34" charset="-120"/>
                <a:hlinkClick r:id="rId2"/>
              </a:rPr>
              <a:t>https://www.youtube.com/watch?v=Twsv_37PmaQ</a:t>
            </a:r>
            <a:r>
              <a:rPr lang="en-US" b="1" dirty="0">
                <a:solidFill>
                  <a:srgbClr val="63637E"/>
                </a:solidFill>
                <a:latin typeface="Calibri" pitchFamily="34" charset="0"/>
                <a:ea typeface="Calibri" pitchFamily="34" charset="-122"/>
                <a:cs typeface="Calibri" pitchFamily="34" charset="-120"/>
              </a:rPr>
              <a:t>)</a:t>
            </a:r>
          </a:p>
          <a:p>
            <a:pPr marL="177800" indent="-177800">
              <a:spcAft>
                <a:spcPts val="500"/>
              </a:spcAft>
              <a:buSzPct val="100000"/>
            </a:pPr>
            <a:r>
              <a:rPr lang="en-US" sz="2800" dirty="0">
                <a:solidFill>
                  <a:srgbClr val="63637E"/>
                </a:solidFill>
                <a:latin typeface="Calibri" pitchFamily="34" charset="0"/>
                <a:ea typeface="Calibri" pitchFamily="34" charset="-122"/>
                <a:cs typeface="Calibri" pitchFamily="34" charset="-120"/>
              </a:rPr>
              <a:t>Presentation file </a:t>
            </a:r>
            <a:r>
              <a:rPr lang="en-US" sz="2800" b="1" dirty="0">
                <a:solidFill>
                  <a:srgbClr val="63637E"/>
                </a:solidFill>
                <a:latin typeface="Calibri" pitchFamily="34" charset="0"/>
                <a:ea typeface="Calibri" pitchFamily="34" charset="-122"/>
                <a:cs typeface="Calibri" pitchFamily="34" charset="-120"/>
              </a:rPr>
              <a:t>(PPT) (</a:t>
            </a:r>
            <a:r>
              <a:rPr lang="en-US" b="1" dirty="0">
                <a:solidFill>
                  <a:srgbClr val="63637E"/>
                </a:solidFill>
                <a:latin typeface="Calibri" pitchFamily="34" charset="0"/>
                <a:ea typeface="Calibri" pitchFamily="34" charset="-122"/>
                <a:cs typeface="Calibri" pitchFamily="34" charset="-120"/>
              </a:rPr>
              <a:t>YES</a:t>
            </a:r>
            <a:r>
              <a:rPr lang="en-IN" b="1" dirty="0">
                <a:solidFill>
                  <a:srgbClr val="63637E"/>
                </a:solidFill>
                <a:latin typeface="Calibri" pitchFamily="34" charset="0"/>
                <a:ea typeface="Calibri" pitchFamily="34" charset="-122"/>
                <a:cs typeface="Calibri" pitchFamily="34" charset="-120"/>
              </a:rPr>
              <a:t> ✓</a:t>
            </a:r>
            <a:r>
              <a:rPr lang="en-US" sz="2800" b="1" dirty="0">
                <a:solidFill>
                  <a:srgbClr val="63637E"/>
                </a:solidFill>
                <a:latin typeface="Calibri" pitchFamily="34" charset="0"/>
                <a:ea typeface="Calibri" pitchFamily="34" charset="-122"/>
                <a:cs typeface="Calibri" pitchFamily="34" charset="-120"/>
              </a:rPr>
              <a:t>)</a:t>
            </a:r>
            <a:endParaRPr lang="en-US" sz="2800" b="1"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2697480" y="1037289"/>
            <a:ext cx="6766560" cy="868680"/>
          </a:xfrm>
          <a:prstGeom prst="rect">
            <a:avLst/>
          </a:prstGeom>
          <a:noFill/>
          <a:ln/>
        </p:spPr>
        <p:txBody>
          <a:bodyPr wrap="square" lIns="0" tIns="0" rIns="0" bIns="0" rtlCol="0" anchor="ctr"/>
          <a:lstStyle/>
          <a:p>
            <a:pPr marL="0" indent="0" algn="ctr">
              <a:buNone/>
            </a:pPr>
            <a:r>
              <a:rPr lang="en-US" sz="6000" b="1" dirty="0">
                <a:solidFill>
                  <a:srgbClr val="14142B"/>
                </a:solidFill>
                <a:latin typeface="Arial" pitchFamily="34" charset="0"/>
                <a:ea typeface="Arial" pitchFamily="34" charset="-122"/>
                <a:cs typeface="Arial" pitchFamily="34" charset="-120"/>
              </a:rPr>
              <a:t>Thank you</a:t>
            </a:r>
            <a:endParaRPr lang="en-US" sz="60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4" name="TextBox 3">
            <a:extLst>
              <a:ext uri="{FF2B5EF4-FFF2-40B4-BE49-F238E27FC236}">
                <a16:creationId xmlns:a16="http://schemas.microsoft.com/office/drawing/2014/main" id="{08F7F0DB-821A-E747-44E9-A71487520C5E}"/>
              </a:ext>
            </a:extLst>
          </p:cNvPr>
          <p:cNvSpPr txBox="1"/>
          <p:nvPr/>
        </p:nvSpPr>
        <p:spPr>
          <a:xfrm>
            <a:off x="777240" y="3708886"/>
            <a:ext cx="7513619" cy="1477328"/>
          </a:xfrm>
          <a:prstGeom prst="rect">
            <a:avLst/>
          </a:prstGeom>
          <a:noFill/>
        </p:spPr>
        <p:txBody>
          <a:bodyPr wrap="square">
            <a:spAutoFit/>
          </a:bodyPr>
          <a:lstStyle/>
          <a:p>
            <a:pPr>
              <a:buNone/>
            </a:pPr>
            <a:r>
              <a:rPr lang="en-IN" b="1" dirty="0"/>
              <a:t>Team Members</a:t>
            </a:r>
            <a:endParaRPr lang="en-IN" dirty="0"/>
          </a:p>
          <a:p>
            <a:pPr>
              <a:buNone/>
            </a:pPr>
            <a:r>
              <a:rPr lang="en-IN" dirty="0" err="1"/>
              <a:t>Naveenbabu</a:t>
            </a:r>
            <a:r>
              <a:rPr lang="en-IN" dirty="0"/>
              <a:t> H.</a:t>
            </a:r>
            <a:br>
              <a:rPr lang="en-IN" dirty="0"/>
            </a:br>
            <a:r>
              <a:rPr lang="en-IN" dirty="0" err="1"/>
              <a:t>Aishwaraya</a:t>
            </a:r>
            <a:r>
              <a:rPr lang="en-IN" dirty="0"/>
              <a:t> A.</a:t>
            </a:r>
          </a:p>
          <a:p>
            <a:pPr>
              <a:buNone/>
            </a:pPr>
            <a:br>
              <a:rPr lang="en-IN" dirty="0"/>
            </a:br>
            <a:r>
              <a:rPr lang="en-IN" b="1" dirty="0"/>
              <a:t>GitHub:  </a:t>
            </a:r>
            <a:r>
              <a:rPr lang="en-IN" b="1" dirty="0">
                <a:hlinkClick r:id="rId3"/>
              </a:rPr>
              <a:t>GITHUB_REPO</a:t>
            </a:r>
            <a:endParaRPr lang="en-IN" dirty="0"/>
          </a:p>
        </p:txBody>
      </p:sp>
      <p:sp>
        <p:nvSpPr>
          <p:cNvPr id="6" name="TextBox 5">
            <a:extLst>
              <a:ext uri="{FF2B5EF4-FFF2-40B4-BE49-F238E27FC236}">
                <a16:creationId xmlns:a16="http://schemas.microsoft.com/office/drawing/2014/main" id="{DEDC9230-010E-2D43-C62A-5A61260E5D6D}"/>
              </a:ext>
            </a:extLst>
          </p:cNvPr>
          <p:cNvSpPr txBox="1"/>
          <p:nvPr/>
        </p:nvSpPr>
        <p:spPr>
          <a:xfrm>
            <a:off x="3107267" y="2067320"/>
            <a:ext cx="6096000" cy="1200329"/>
          </a:xfrm>
          <a:prstGeom prst="rect">
            <a:avLst/>
          </a:prstGeom>
          <a:noFill/>
        </p:spPr>
        <p:txBody>
          <a:bodyPr wrap="square">
            <a:spAutoFit/>
          </a:bodyPr>
          <a:lstStyle/>
          <a:p>
            <a:pPr algn="ctr">
              <a:buNone/>
            </a:pPr>
            <a:r>
              <a:rPr lang="en-IN" sz="1800" b="1" dirty="0"/>
              <a:t>Streaming-Live-RAG</a:t>
            </a:r>
          </a:p>
          <a:p>
            <a:pPr algn="ctr">
              <a:buNone/>
            </a:pPr>
            <a:r>
              <a:rPr lang="en-IN" b="1" dirty="0"/>
              <a:t>APEX</a:t>
            </a:r>
            <a:endParaRPr lang="en-IN" sz="1800" dirty="0"/>
          </a:p>
          <a:p>
            <a:pPr algn="ctr">
              <a:buNone/>
            </a:pPr>
            <a:r>
              <a:rPr lang="en-IN" sz="1800" b="1" dirty="0"/>
              <a:t>VIT Vellore</a:t>
            </a:r>
            <a:endParaRPr lang="en-IN" sz="1800" dirty="0"/>
          </a:p>
          <a:p>
            <a:pPr algn="ctr">
              <a:buNone/>
            </a:pPr>
            <a:r>
              <a:rPr lang="en-IN" sz="1800" b="1" dirty="0"/>
              <a:t>Theme 04 — Generative AI Hackathon</a:t>
            </a:r>
            <a:endParaRPr lang="en-IN"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217</TotalTime>
  <Words>1280</Words>
  <Application>Microsoft Office PowerPoint</Application>
  <PresentationFormat>Widescreen</PresentationFormat>
  <Paragraphs>230</Paragraphs>
  <Slides>12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DM Sans SemiBold</vt:lpstr>
      <vt:lpstr>Inter</vt:lpstr>
      <vt:lpstr>Inter Bold</vt:lpstr>
      <vt:lpstr>Inter Medium</vt:lpstr>
      <vt:lpstr>Office Theme</vt:lpstr>
      <vt:lpstr>PowerPoint Presentation</vt:lpstr>
      <vt:lpstr>Theme 04 — Streaming Live RAG </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Cool Moon</cp:lastModifiedBy>
  <cp:revision>10</cp:revision>
  <dcterms:created xsi:type="dcterms:W3CDTF">2026-09-07T12:01:01Z</dcterms:created>
  <dcterms:modified xsi:type="dcterms:W3CDTF">2026-09-25T16:57:57Z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